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09"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70"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8A1342-B0E5-4B59-A07C-FA1B7C0B25BF}" type="datetimeFigureOut">
              <a:rPr lang="en-US" smtClean="0"/>
              <a:t>6/20/2025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97809F-3138-4143-BED3-10C5D846170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C97809F-3138-4143-BED3-10C5D8461707}"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8D8F5-517E-98B2-457C-945BEBB8508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450D6C43-00EE-6F86-79DA-29C7FAD1074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77111A-CECE-E860-FCB6-1B915DE6211D}"/>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EA31F3F2-64FE-5F38-CA86-F098BCF36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ACBB2-A4F5-3B10-43BF-E122553AD45D}"/>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19236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6AD9-8E11-8C82-F5E2-ACE927F1FC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4C48DA-F761-82D0-D43F-F6B748D40E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342232-B5B1-981A-347A-48153DD7BC9E}"/>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26E971AA-CE1B-8FCF-CB7B-05B834B96A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C49208-D4E1-23FD-BCB8-7EA4B60DAC6D}"/>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2095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B05C-4E3B-DCC5-464F-7A3B36261E4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F6082A-BA1F-43D0-B72D-E0DBB114BB7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E54BED-9B1D-A4BB-A8B4-C249C4360815}"/>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4EC6DCE0-7660-49DB-92C0-454286A9C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AB5D8D-3176-0FB5-2559-B1AE27C3EB39}"/>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251179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2B4B5-FD25-1B2B-88BA-3B73E21D47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CDC4E0-FC43-3BDE-BAF7-C110DC13631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C1F4AB-D1E8-9E54-9A4B-E7E5BC4CA27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91F49C-687D-4617-CD98-05C6AF8461FD}"/>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6" name="Footer Placeholder 5">
            <a:extLst>
              <a:ext uri="{FF2B5EF4-FFF2-40B4-BE49-F238E27FC236}">
                <a16:creationId xmlns:a16="http://schemas.microsoft.com/office/drawing/2014/main" id="{DCCC3C72-6630-4BB0-E2E6-F9F33E141C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8BAE5C-A85B-A03B-B9F6-DC42B9F512FD}"/>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311493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0ABF-F191-91AB-7728-DBBE4B9EEEDE}"/>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BA7F13-6236-842D-D1F8-71106E98E48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C01275F-288C-5B56-380F-D4189012942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D06C07-136A-8335-F70E-468DDE55D5E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3DFE462-65BC-0601-9FA7-0C2BDF23830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3C3447-8782-0F16-62E6-E1B41078CBE0}"/>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8" name="Footer Placeholder 7">
            <a:extLst>
              <a:ext uri="{FF2B5EF4-FFF2-40B4-BE49-F238E27FC236}">
                <a16:creationId xmlns:a16="http://schemas.microsoft.com/office/drawing/2014/main" id="{8F5B18DE-6B5D-829A-C95C-3497E78DEB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EF1276-F9AA-2B67-1611-1278DC0AC340}"/>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283693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FB51-1323-261B-81D4-66EC2CECF5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1B8932-AA2B-43E8-93E4-CEFEC62C9F3E}"/>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4" name="Footer Placeholder 3">
            <a:extLst>
              <a:ext uri="{FF2B5EF4-FFF2-40B4-BE49-F238E27FC236}">
                <a16:creationId xmlns:a16="http://schemas.microsoft.com/office/drawing/2014/main" id="{6CF13E3C-2D60-AE74-5F9E-D104A54912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014294-DBBB-25E5-ECD2-75A5F246A727}"/>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04866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F16C39-D7C4-E49E-9DDB-B798697F50A5}"/>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3" name="Footer Placeholder 2">
            <a:extLst>
              <a:ext uri="{FF2B5EF4-FFF2-40B4-BE49-F238E27FC236}">
                <a16:creationId xmlns:a16="http://schemas.microsoft.com/office/drawing/2014/main" id="{C6A096B5-E301-6C34-6168-9CB156B5D5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A2D008-2FD1-A915-4821-8C64D930D9C0}"/>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5648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9DF3-8595-8892-1864-99CE0812620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E83DD9-CE72-01C5-A5D1-BCBC0E06D3E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EE19D1-B573-3E9F-97FA-13202952923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0D8B280-F044-8A5A-42F2-EC5D9ED430DD}"/>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6" name="Footer Placeholder 5">
            <a:extLst>
              <a:ext uri="{FF2B5EF4-FFF2-40B4-BE49-F238E27FC236}">
                <a16:creationId xmlns:a16="http://schemas.microsoft.com/office/drawing/2014/main" id="{13AF74E7-DCDB-39A0-4AE1-8E96E7799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B7C5C1-B820-AD59-0466-3EC16AEFC3C2}"/>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22891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F062-2FB4-48B0-A63A-D21C8606C02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D79D00-FB35-A05A-BA3D-9B7371B11D5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276ED3AE-EB4A-D546-05B9-CFC0D95095A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CA20C86-DCE4-9981-1321-58700B730EEA}"/>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6" name="Footer Placeholder 5">
            <a:extLst>
              <a:ext uri="{FF2B5EF4-FFF2-40B4-BE49-F238E27FC236}">
                <a16:creationId xmlns:a16="http://schemas.microsoft.com/office/drawing/2014/main" id="{A0963ABD-B955-A0C3-64F0-543E55618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E3AF3-9446-F31C-BBD3-313EE8E7E620}"/>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596644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21FD-6020-DE1F-1249-61DFF89181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53EAD2-88C0-FE33-BEB7-4E46B4F0E1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EDA70-99D6-699E-744A-B2EFD652D4B2}"/>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3942715E-0178-D8CE-3FAE-B3B87ED422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67757-B508-2E62-0632-8290D9F5F7EF}"/>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575608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4249E4-606C-1D76-3DFB-D21BB24C4E27}"/>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CC5F1A-1574-E4A7-AA1B-FB840051234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C2F331-82D9-521B-A89C-3CBCA2449D66}"/>
              </a:ext>
            </a:extLst>
          </p:cNvPr>
          <p:cNvSpPr>
            <a:spLocks noGrp="1"/>
          </p:cNvSpPr>
          <p:nvPr>
            <p:ph type="dt" sz="half" idx="10"/>
          </p:nvPr>
        </p:nvSpPr>
        <p:spPr/>
        <p:txBody>
          <a:body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38DEDDD6-EDEC-3DED-9FE3-012F09F2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A8353-4835-227D-4864-A95CA7ECFAFD}"/>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08941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F21C26-2A49-F3EE-7683-79B3BA8A9F6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861EB5-2722-B5E9-B80F-D693AB9256E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BD7B6-F0D8-3C4F-DD05-4A6CB9EEF23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pPr/>
              <a:t>6/20/2025</a:t>
            </a:fld>
            <a:endParaRPr lang="en-US"/>
          </a:p>
        </p:txBody>
      </p:sp>
      <p:sp>
        <p:nvSpPr>
          <p:cNvPr id="5" name="Footer Placeholder 4">
            <a:extLst>
              <a:ext uri="{FF2B5EF4-FFF2-40B4-BE49-F238E27FC236}">
                <a16:creationId xmlns:a16="http://schemas.microsoft.com/office/drawing/2014/main" id="{B4095EFE-FC1F-43F1-4CC0-6EF7C3BBBD9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7CCC9C-636F-3760-6995-F09CA459422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965969055"/>
      </p:ext>
    </p:extLst>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18" r:id="rId9"/>
    <p:sldLayoutId id="2147484219" r:id="rId10"/>
    <p:sldLayoutId id="214748422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ltk.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2.xml"/><Relationship Id="rId4" Type="http://schemas.openxmlformats.org/officeDocument/2006/relationships/hyperlink" Target="https://scrumguides.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605" y="394443"/>
            <a:ext cx="7336092" cy="1852707"/>
          </a:xfrm>
        </p:spPr>
        <p:txBody>
          <a:bodyPr>
            <a:normAutofit fontScale="90000"/>
          </a:bodyPr>
          <a:lstStyle/>
          <a:p>
            <a:pPr algn="ctr"/>
            <a:r>
              <a:rPr lang="en-US" sz="2700" b="1" dirty="0">
                <a:latin typeface="Times New Roman" pitchFamily="18" charset="0"/>
                <a:cs typeface="Times New Roman" pitchFamily="18" charset="0"/>
              </a:rPr>
              <a:t>    </a:t>
            </a:r>
            <a:br>
              <a:rPr lang="en-US" sz="2700" b="1" dirty="0">
                <a:latin typeface="Times New Roman" pitchFamily="18" charset="0"/>
                <a:cs typeface="Times New Roman" pitchFamily="18" charset="0"/>
              </a:rPr>
            </a:br>
            <a:br>
              <a:rPr lang="en-US" sz="2700" b="1" dirty="0">
                <a:latin typeface="Times New Roman" pitchFamily="18" charset="0"/>
                <a:cs typeface="Times New Roman" pitchFamily="18" charset="0"/>
              </a:rPr>
            </a:br>
            <a:r>
              <a:rPr lang="en-US" sz="2700" b="1" dirty="0">
                <a:latin typeface="Times New Roman" pitchFamily="18" charset="0"/>
                <a:cs typeface="Times New Roman" pitchFamily="18" charset="0"/>
              </a:rPr>
              <a:t>STANLEY COLLEGE OF ENGINEERING AND TECHNOLOGY FOR WOMEN (AUTONOMOUS)</a:t>
            </a:r>
            <a:br>
              <a:rPr lang="en-US" sz="2700" b="1"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US" sz="1300" dirty="0">
                <a:latin typeface="Times New Roman" pitchFamily="18" charset="0"/>
                <a:cs typeface="Times New Roman" pitchFamily="18" charset="0"/>
              </a:rPr>
              <a:t>(Affiliated to Osmania University &amp; Approved by AICTE)</a:t>
            </a:r>
            <a:br>
              <a:rPr lang="en-US" sz="1300" dirty="0">
                <a:latin typeface="Times New Roman" pitchFamily="18" charset="0"/>
                <a:cs typeface="Times New Roman" pitchFamily="18" charset="0"/>
              </a:rPr>
            </a:br>
            <a:r>
              <a:rPr lang="en-US" sz="1300" dirty="0">
                <a:latin typeface="Times New Roman" pitchFamily="18" charset="0"/>
                <a:cs typeface="Times New Roman" pitchFamily="18" charset="0"/>
              </a:rPr>
              <a:t>(All eligible UG Courses are accredited by NBA &amp; Accredited by NAAC with ‘A’ Grade)</a:t>
            </a:r>
            <a:br>
              <a:rPr lang="en-US" sz="2400" dirty="0">
                <a:latin typeface="Times New Roman" pitchFamily="18" charset="0"/>
                <a:cs typeface="Times New Roman" pitchFamily="18" charset="0"/>
              </a:rPr>
            </a:br>
            <a:br>
              <a:rPr lang="en-US" sz="2800" dirty="0"/>
            </a:br>
            <a:endParaRPr sz="2800" dirty="0">
              <a:latin typeface="Times New Roman" pitchFamily="18" charset="0"/>
              <a:cs typeface="Times New Roman" pitchFamily="18" charset="0"/>
            </a:endParaRPr>
          </a:p>
        </p:txBody>
      </p:sp>
      <p:sp>
        <p:nvSpPr>
          <p:cNvPr id="3" name="Content Placeholder 2"/>
          <p:cNvSpPr>
            <a:spLocks noGrp="1"/>
          </p:cNvSpPr>
          <p:nvPr>
            <p:ph idx="1"/>
          </p:nvPr>
        </p:nvSpPr>
        <p:spPr>
          <a:xfrm>
            <a:off x="490177" y="1976284"/>
            <a:ext cx="8240047" cy="4112188"/>
          </a:xfrm>
        </p:spPr>
        <p:txBody>
          <a:bodyPr>
            <a:normAutofit/>
          </a:bodyPr>
          <a:lstStyle/>
          <a:p>
            <a:pPr algn="ctr">
              <a:buNone/>
            </a:pPr>
            <a:endParaRPr lang="en-US" sz="2400" b="1" dirty="0">
              <a:latin typeface="Times New Roman" pitchFamily="18" charset="0"/>
              <a:cs typeface="Times New Roman" pitchFamily="18" charset="0"/>
            </a:endParaRPr>
          </a:p>
          <a:p>
            <a:pPr algn="ctr">
              <a:buNone/>
            </a:pPr>
            <a:r>
              <a:rPr lang="en-US" sz="2400" b="1" dirty="0">
                <a:latin typeface="Times New Roman" pitchFamily="18" charset="0"/>
                <a:cs typeface="Times New Roman" pitchFamily="18" charset="0"/>
              </a:rPr>
              <a:t>Department of Information Technology</a:t>
            </a:r>
            <a:endParaRPr dirty="0"/>
          </a:p>
          <a:p>
            <a:pPr algn="ctr">
              <a:buNone/>
            </a:pPr>
            <a:r>
              <a:rPr lang="en-US" dirty="0"/>
              <a:t>Mini Project</a:t>
            </a:r>
          </a:p>
          <a:p>
            <a:pPr algn="ctr">
              <a:buNone/>
            </a:pPr>
            <a:r>
              <a:rPr lang="en-US" dirty="0"/>
              <a:t>Title : Email Spam Detection</a:t>
            </a:r>
            <a:endParaRPr dirty="0"/>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Presented by:                                                                Guide:</a:t>
            </a:r>
          </a:p>
          <a:p>
            <a:pPr>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Gundla</a:t>
            </a:r>
            <a:r>
              <a:rPr lang="en-US" sz="2000" dirty="0">
                <a:latin typeface="Times New Roman" pitchFamily="18" charset="0"/>
                <a:cs typeface="Times New Roman" pitchFamily="18" charset="0"/>
              </a:rPr>
              <a:t> Harika(160622737025                       </a:t>
            </a:r>
            <a:r>
              <a:rPr lang="en-US" sz="2000" dirty="0" err="1">
                <a:latin typeface="Times New Roman" pitchFamily="18" charset="0"/>
                <a:cs typeface="Times New Roman" pitchFamily="18" charset="0"/>
              </a:rPr>
              <a:t>Dr.Y</a:t>
            </a:r>
            <a:r>
              <a:rPr lang="en-US" sz="2000" dirty="0">
                <a:latin typeface="Times New Roman" pitchFamily="18" charset="0"/>
                <a:cs typeface="Times New Roman" pitchFamily="18" charset="0"/>
              </a:rPr>
              <a:t>. Malathi Latha</a:t>
            </a:r>
          </a:p>
          <a:p>
            <a:pPr>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K.Krushna</a:t>
            </a:r>
            <a:r>
              <a:rPr lang="en-US" sz="2000" dirty="0">
                <a:latin typeface="Times New Roman" pitchFamily="18" charset="0"/>
                <a:cs typeface="Times New Roman" pitchFamily="18" charset="0"/>
              </a:rPr>
              <a:t> Sri(160622737035)                           IT Department</a:t>
            </a:r>
          </a:p>
          <a:p>
            <a:pPr>
              <a:buNone/>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M.Srija</a:t>
            </a:r>
            <a:r>
              <a:rPr lang="en-US" sz="2000" dirty="0">
                <a:latin typeface="Times New Roman" pitchFamily="18" charset="0"/>
                <a:cs typeface="Times New Roman" pitchFamily="18" charset="0"/>
              </a:rPr>
              <a:t>(160622737040)					</a:t>
            </a:r>
            <a:endParaRPr dirty="0"/>
          </a:p>
        </p:txBody>
      </p:sp>
      <p:pic>
        <p:nvPicPr>
          <p:cNvPr id="4" name="Picture 3" descr="download (1).png"/>
          <p:cNvPicPr>
            <a:picLocks noChangeAspect="1"/>
          </p:cNvPicPr>
          <p:nvPr/>
        </p:nvPicPr>
        <p:blipFill>
          <a:blip r:embed="rId3"/>
          <a:stretch>
            <a:fillRect/>
          </a:stretch>
        </p:blipFill>
        <p:spPr>
          <a:xfrm>
            <a:off x="274076" y="511670"/>
            <a:ext cx="1254443" cy="1248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DDB724-7267-D580-B1C7-6DF6F035A2C7}"/>
              </a:ext>
            </a:extLst>
          </p:cNvPr>
          <p:cNvSpPr>
            <a:spLocks noGrp="1"/>
          </p:cNvSpPr>
          <p:nvPr>
            <p:ph type="title"/>
          </p:nvPr>
        </p:nvSpPr>
        <p:spPr>
          <a:xfrm>
            <a:off x="875071" y="540774"/>
            <a:ext cx="6312310" cy="1091380"/>
          </a:xfrm>
        </p:spPr>
        <p:txBody>
          <a:bodyPr>
            <a:normAutofit/>
          </a:bodyPr>
          <a:lstStyle/>
          <a:p>
            <a:pPr algn="just"/>
            <a:r>
              <a:rPr lang="en-US" b="1" dirty="0"/>
              <a:t>                          Introduction                </a:t>
            </a:r>
            <a:endParaRPr lang="en-IN" b="1" dirty="0"/>
          </a:p>
        </p:txBody>
      </p:sp>
      <p:sp>
        <p:nvSpPr>
          <p:cNvPr id="8" name="TextBox 7">
            <a:extLst>
              <a:ext uri="{FF2B5EF4-FFF2-40B4-BE49-F238E27FC236}">
                <a16:creationId xmlns:a16="http://schemas.microsoft.com/office/drawing/2014/main" id="{C7C967DA-B9CE-C3EC-F7CA-0557A2F8BC79}"/>
              </a:ext>
            </a:extLst>
          </p:cNvPr>
          <p:cNvSpPr txBox="1"/>
          <p:nvPr/>
        </p:nvSpPr>
        <p:spPr>
          <a:xfrm>
            <a:off x="875071" y="1632154"/>
            <a:ext cx="7511846" cy="3970318"/>
          </a:xfrm>
          <a:prstGeom prst="rect">
            <a:avLst/>
          </a:prstGeom>
          <a:noFill/>
        </p:spPr>
        <p:txBody>
          <a:bodyPr wrap="square" rtlCol="0">
            <a:spAutoFit/>
          </a:bodyPr>
          <a:lstStyle/>
          <a:p>
            <a:pPr algn="just"/>
            <a:r>
              <a:rPr lang="en-US" dirty="0"/>
              <a:t>In the digital era, email communication is a fundamental part of both personal and professional interactions. However, the rise of unsolicited and harmful messages, commonly known as spam emails, poses serious threats such as phishing attacks, scams, and data breaches. Hence, spam detection systems have become vital for securing communication platforms and ensuring the reliability of email services.      </a:t>
            </a:r>
          </a:p>
          <a:p>
            <a:pPr algn="just"/>
            <a:endParaRPr lang="en-US" dirty="0"/>
          </a:p>
          <a:p>
            <a:pPr algn="just"/>
            <a:r>
              <a:rPr lang="en-US" dirty="0"/>
              <a:t>To address this challenge efficiently and iteratively, we adopt the Agile Software Development Model, which emphasizes incremental delivery, continuous improvement, and adaptability to changing requirements. The Agile approach is well-suited for machine learning projects like spam detection, as it allows teams to quickly respond to feedback, incorporate new features, and refine models over time.</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8B73EF-1D11-4F2A-1156-60144CDF0A58}"/>
              </a:ext>
            </a:extLst>
          </p:cNvPr>
          <p:cNvSpPr>
            <a:spLocks noGrp="1"/>
          </p:cNvSpPr>
          <p:nvPr>
            <p:ph type="title"/>
          </p:nvPr>
        </p:nvSpPr>
        <p:spPr>
          <a:xfrm>
            <a:off x="628650" y="365127"/>
            <a:ext cx="7886700" cy="1355518"/>
          </a:xfrm>
        </p:spPr>
        <p:txBody>
          <a:bodyPr/>
          <a:lstStyle/>
          <a:p>
            <a:pPr algn="ctr"/>
            <a:r>
              <a:rPr lang="en-US" b="1" dirty="0"/>
              <a:t>Problem Statement </a:t>
            </a:r>
            <a:endParaRPr lang="en-IN" b="1" dirty="0"/>
          </a:p>
        </p:txBody>
      </p:sp>
      <p:sp>
        <p:nvSpPr>
          <p:cNvPr id="8" name="Content Placeholder 7">
            <a:extLst>
              <a:ext uri="{FF2B5EF4-FFF2-40B4-BE49-F238E27FC236}">
                <a16:creationId xmlns:a16="http://schemas.microsoft.com/office/drawing/2014/main" id="{54DC08ED-0C78-95A8-31A1-9745F654B6E2}"/>
              </a:ext>
            </a:extLst>
          </p:cNvPr>
          <p:cNvSpPr>
            <a:spLocks noGrp="1"/>
          </p:cNvSpPr>
          <p:nvPr>
            <p:ph idx="1"/>
          </p:nvPr>
        </p:nvSpPr>
        <p:spPr>
          <a:xfrm>
            <a:off x="816264" y="1406013"/>
            <a:ext cx="7511472" cy="2703871"/>
          </a:xfrm>
        </p:spPr>
        <p:txBody>
          <a:bodyPr/>
          <a:lstStyle/>
          <a:p>
            <a:pPr algn="just"/>
            <a:r>
              <a:rPr lang="en-US" dirty="0"/>
              <a:t>With the rise of unwanted and malicious emails, traditional spam filters struggle to keep up with evolving spam techniques. There is a need for an intelligent and adaptive system that can accurately detect spam emails. </a:t>
            </a:r>
          </a:p>
          <a:p>
            <a:pPr algn="just"/>
            <a:r>
              <a:rPr lang="en-US" dirty="0"/>
              <a:t>This project aims to build a machine learning-based spam detection model using the Agile methodology for continuous improvement and quick adaptability.           </a:t>
            </a:r>
            <a:endParaRPr lang="en-IN" dirty="0"/>
          </a:p>
        </p:txBody>
      </p:sp>
      <p:pic>
        <p:nvPicPr>
          <p:cNvPr id="12" name="Picture 11">
            <a:extLst>
              <a:ext uri="{FF2B5EF4-FFF2-40B4-BE49-F238E27FC236}">
                <a16:creationId xmlns:a16="http://schemas.microsoft.com/office/drawing/2014/main" id="{543793C4-5690-AEAB-87D9-9000CF625E1E}"/>
              </a:ext>
            </a:extLst>
          </p:cNvPr>
          <p:cNvPicPr>
            <a:picLocks noChangeAspect="1"/>
          </p:cNvPicPr>
          <p:nvPr/>
        </p:nvPicPr>
        <p:blipFill>
          <a:blip r:embed="rId2"/>
          <a:stretch>
            <a:fillRect/>
          </a:stretch>
        </p:blipFill>
        <p:spPr>
          <a:xfrm>
            <a:off x="3608438" y="3794816"/>
            <a:ext cx="3981079" cy="22460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25DA30-11CD-0D8B-1A95-7751FB6848B3}"/>
              </a:ext>
            </a:extLst>
          </p:cNvPr>
          <p:cNvSpPr>
            <a:spLocks noGrp="1"/>
          </p:cNvSpPr>
          <p:nvPr>
            <p:ph type="title"/>
          </p:nvPr>
        </p:nvSpPr>
        <p:spPr>
          <a:xfrm>
            <a:off x="628650" y="582715"/>
            <a:ext cx="7797595" cy="1009651"/>
          </a:xfrm>
        </p:spPr>
        <p:txBody>
          <a:bodyPr/>
          <a:lstStyle/>
          <a:p>
            <a:pPr algn="ctr"/>
            <a:r>
              <a:rPr lang="en-US" b="1" dirty="0"/>
              <a:t>Objectives</a:t>
            </a:r>
            <a:endParaRPr lang="en-IN" b="1" dirty="0"/>
          </a:p>
        </p:txBody>
      </p:sp>
      <p:sp>
        <p:nvSpPr>
          <p:cNvPr id="8" name="Content Placeholder 7">
            <a:extLst>
              <a:ext uri="{FF2B5EF4-FFF2-40B4-BE49-F238E27FC236}">
                <a16:creationId xmlns:a16="http://schemas.microsoft.com/office/drawing/2014/main" id="{94B7507B-27AA-A04E-1169-8F2DE33558E8}"/>
              </a:ext>
            </a:extLst>
          </p:cNvPr>
          <p:cNvSpPr>
            <a:spLocks noGrp="1"/>
          </p:cNvSpPr>
          <p:nvPr>
            <p:ph idx="1"/>
          </p:nvPr>
        </p:nvSpPr>
        <p:spPr>
          <a:xfrm>
            <a:off x="717754" y="1828801"/>
            <a:ext cx="7797596" cy="4348162"/>
          </a:xfrm>
        </p:spPr>
        <p:txBody>
          <a:bodyPr>
            <a:normAutofit/>
          </a:bodyPr>
          <a:lstStyle/>
          <a:p>
            <a:pPr algn="just"/>
            <a:r>
              <a:rPr lang="en-US" b="1" dirty="0"/>
              <a:t>Develop</a:t>
            </a:r>
            <a:r>
              <a:rPr lang="en-US" dirty="0"/>
              <a:t> a machine learning model to classify emails as </a:t>
            </a:r>
            <a:r>
              <a:rPr lang="en-US" i="1" dirty="0"/>
              <a:t>spam</a:t>
            </a:r>
            <a:r>
              <a:rPr lang="en-US" dirty="0"/>
              <a:t> or </a:t>
            </a:r>
            <a:r>
              <a:rPr lang="en-US" i="1" dirty="0"/>
              <a:t>ham</a:t>
            </a:r>
            <a:r>
              <a:rPr lang="en-US" dirty="0"/>
              <a:t>.</a:t>
            </a:r>
          </a:p>
          <a:p>
            <a:pPr algn="just"/>
            <a:r>
              <a:rPr lang="en-US" b="1" dirty="0"/>
              <a:t>Implement</a:t>
            </a:r>
            <a:r>
              <a:rPr lang="en-US" dirty="0"/>
              <a:t> NLP techniques for text preprocessing and feature extraction.</a:t>
            </a:r>
          </a:p>
          <a:p>
            <a:pPr algn="just"/>
            <a:r>
              <a:rPr lang="en-US" b="1" dirty="0"/>
              <a:t>Ensure</a:t>
            </a:r>
            <a:r>
              <a:rPr lang="en-US" dirty="0"/>
              <a:t> high accuracy, precision, and recall in spam detection.</a:t>
            </a:r>
          </a:p>
          <a:p>
            <a:pPr algn="just"/>
            <a:r>
              <a:rPr lang="en-US" b="1" dirty="0"/>
              <a:t>Follow</a:t>
            </a:r>
            <a:r>
              <a:rPr lang="en-US" dirty="0"/>
              <a:t> Agile methodology for iterative development and continuous improvement.</a:t>
            </a:r>
          </a:p>
          <a:p>
            <a:pPr algn="just"/>
            <a:r>
              <a:rPr lang="en-US" b="1" dirty="0"/>
              <a:t>Adapt</a:t>
            </a:r>
            <a:r>
              <a:rPr lang="en-US" dirty="0"/>
              <a:t> the model to handle evolving spam patterns effectively.</a:t>
            </a:r>
          </a:p>
          <a:p>
            <a:pPr algn="just"/>
            <a:r>
              <a:rPr lang="en-US" b="1" dirty="0"/>
              <a:t>Deploy</a:t>
            </a:r>
            <a:r>
              <a:rPr lang="en-US" dirty="0"/>
              <a:t> a user-friendly system for real-time spam detection.</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A11A85A-5918-BF21-CA26-11E6C3F5CF5A}"/>
              </a:ext>
            </a:extLst>
          </p:cNvPr>
          <p:cNvPicPr>
            <a:picLocks noGrp="1" noChangeAspect="1"/>
          </p:cNvPicPr>
          <p:nvPr>
            <p:ph idx="1"/>
          </p:nvPr>
        </p:nvPicPr>
        <p:blipFill>
          <a:blip r:embed="rId2"/>
          <a:stretch>
            <a:fillRect/>
          </a:stretch>
        </p:blipFill>
        <p:spPr>
          <a:xfrm>
            <a:off x="983227" y="511277"/>
            <a:ext cx="7266038" cy="5665686"/>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66220-371A-1E76-AE16-6A0AB97C0F2B}"/>
              </a:ext>
            </a:extLst>
          </p:cNvPr>
          <p:cNvSpPr>
            <a:spLocks noGrp="1"/>
          </p:cNvSpPr>
          <p:nvPr>
            <p:ph type="title"/>
          </p:nvPr>
        </p:nvSpPr>
        <p:spPr>
          <a:xfrm>
            <a:off x="628650" y="344129"/>
            <a:ext cx="7522292" cy="977223"/>
          </a:xfrm>
        </p:spPr>
        <p:txBody>
          <a:bodyPr/>
          <a:lstStyle/>
          <a:p>
            <a:pPr algn="ctr"/>
            <a:r>
              <a:rPr lang="en-US" b="1" dirty="0"/>
              <a:t>Methodology</a:t>
            </a:r>
            <a:endParaRPr lang="en-IN" b="1" dirty="0"/>
          </a:p>
        </p:txBody>
      </p:sp>
      <p:sp>
        <p:nvSpPr>
          <p:cNvPr id="11" name="TextBox 10">
            <a:extLst>
              <a:ext uri="{FF2B5EF4-FFF2-40B4-BE49-F238E27FC236}">
                <a16:creationId xmlns:a16="http://schemas.microsoft.com/office/drawing/2014/main" id="{23604178-1E76-67DA-2076-22579E21C1AD}"/>
              </a:ext>
            </a:extLst>
          </p:cNvPr>
          <p:cNvSpPr txBox="1"/>
          <p:nvPr/>
        </p:nvSpPr>
        <p:spPr>
          <a:xfrm>
            <a:off x="561739" y="1443841"/>
            <a:ext cx="3874523" cy="4524315"/>
          </a:xfrm>
          <a:prstGeom prst="rect">
            <a:avLst/>
          </a:prstGeom>
          <a:noFill/>
        </p:spPr>
        <p:txBody>
          <a:bodyPr wrap="square" rtlCol="0">
            <a:spAutoFit/>
          </a:bodyPr>
          <a:lstStyle/>
          <a:p>
            <a:r>
              <a:rPr lang="en-IN" b="1" dirty="0"/>
              <a:t>1.Requirement Gathering</a:t>
            </a:r>
          </a:p>
          <a:p>
            <a:r>
              <a:rPr lang="en-IN" dirty="0"/>
              <a:t>Identify the need for spam classification, choose dataset (spam.csv), and define evaluation metrics (accuracy, precision).</a:t>
            </a:r>
          </a:p>
          <a:p>
            <a:endParaRPr lang="en-IN" dirty="0"/>
          </a:p>
          <a:p>
            <a:r>
              <a:rPr lang="en-IN" b="1" dirty="0"/>
              <a:t>2. Planning / Backlog Creation</a:t>
            </a:r>
          </a:p>
          <a:p>
            <a:r>
              <a:rPr lang="en-IN" dirty="0"/>
              <a:t>Break down tasks: data cleaning, preprocessing, model training, evaluation, and deployment.</a:t>
            </a:r>
          </a:p>
          <a:p>
            <a:endParaRPr lang="en-IN" dirty="0"/>
          </a:p>
          <a:p>
            <a:r>
              <a:rPr lang="en-IN" b="1" dirty="0"/>
              <a:t> 3. Design &amp; Sprint Planning</a:t>
            </a:r>
          </a:p>
          <a:p>
            <a:r>
              <a:rPr lang="en-IN" dirty="0"/>
              <a:t>Design pipeline (preprocessing → vectorization → </a:t>
            </a:r>
            <a:r>
              <a:rPr lang="en-IN" dirty="0" err="1"/>
              <a:t>modeling</a:t>
            </a:r>
            <a:r>
              <a:rPr lang="en-IN" dirty="0"/>
              <a:t>), select tools (Pandas, NLTK, </a:t>
            </a:r>
            <a:r>
              <a:rPr lang="en-IN" dirty="0" err="1"/>
              <a:t>Sklearn</a:t>
            </a:r>
            <a:r>
              <a:rPr lang="en-IN" dirty="0"/>
              <a:t>), and plan ML models (Naive Bayes, SVM).</a:t>
            </a:r>
          </a:p>
        </p:txBody>
      </p:sp>
      <p:sp>
        <p:nvSpPr>
          <p:cNvPr id="12" name="TextBox 11">
            <a:extLst>
              <a:ext uri="{FF2B5EF4-FFF2-40B4-BE49-F238E27FC236}">
                <a16:creationId xmlns:a16="http://schemas.microsoft.com/office/drawing/2014/main" id="{F6EB259D-253F-A5BC-40CB-F98C8A6B31C7}"/>
              </a:ext>
            </a:extLst>
          </p:cNvPr>
          <p:cNvSpPr txBox="1"/>
          <p:nvPr/>
        </p:nvSpPr>
        <p:spPr>
          <a:xfrm>
            <a:off x="4640827" y="1337187"/>
            <a:ext cx="3874523" cy="4117802"/>
          </a:xfrm>
          <a:prstGeom prst="rect">
            <a:avLst/>
          </a:prstGeom>
          <a:noFill/>
        </p:spPr>
        <p:txBody>
          <a:bodyPr wrap="square" rtlCol="0">
            <a:spAutoFit/>
          </a:bodyPr>
          <a:lstStyle/>
          <a:p>
            <a:endParaRPr lang="en-IN" dirty="0"/>
          </a:p>
        </p:txBody>
      </p:sp>
      <p:pic>
        <p:nvPicPr>
          <p:cNvPr id="14" name="Picture 13">
            <a:extLst>
              <a:ext uri="{FF2B5EF4-FFF2-40B4-BE49-F238E27FC236}">
                <a16:creationId xmlns:a16="http://schemas.microsoft.com/office/drawing/2014/main" id="{845261BE-AC6E-220B-AA5D-DD446718539D}"/>
              </a:ext>
            </a:extLst>
          </p:cNvPr>
          <p:cNvPicPr>
            <a:picLocks noChangeAspect="1"/>
          </p:cNvPicPr>
          <p:nvPr/>
        </p:nvPicPr>
        <p:blipFill>
          <a:blip r:embed="rId2"/>
          <a:stretch>
            <a:fillRect/>
          </a:stretch>
        </p:blipFill>
        <p:spPr>
          <a:xfrm>
            <a:off x="4572000" y="1403011"/>
            <a:ext cx="3970318" cy="3970318"/>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3617" y="1111045"/>
            <a:ext cx="6283428" cy="5181600"/>
          </a:xfrm>
        </p:spPr>
        <p:txBody>
          <a:bodyPr/>
          <a:lstStyle/>
          <a:p>
            <a:pPr marL="0" indent="0" algn="just">
              <a:buNone/>
            </a:pPr>
            <a:r>
              <a:rPr lang="en-IN" dirty="0"/>
              <a:t> </a:t>
            </a:r>
            <a:r>
              <a:rPr lang="en-IN" sz="1800" b="1" dirty="0"/>
              <a:t>4. Development (Sprints)Sprint-wise implementation</a:t>
            </a:r>
          </a:p>
          <a:p>
            <a:pPr marL="0" indent="0">
              <a:buNone/>
            </a:pPr>
            <a:r>
              <a:rPr lang="en-IN" sz="1800" dirty="0"/>
              <a:t> </a:t>
            </a:r>
            <a:r>
              <a:rPr lang="en-IN" sz="1800" dirty="0" err="1"/>
              <a:t>Datacleaning</a:t>
            </a:r>
            <a:r>
              <a:rPr lang="en-IN" sz="1800" dirty="0"/>
              <a:t> Text preprocessing TF-IDF feature </a:t>
            </a:r>
            <a:r>
              <a:rPr lang="en-IN" sz="1800" dirty="0" err="1"/>
              <a:t>extractionModel</a:t>
            </a:r>
            <a:r>
              <a:rPr lang="en-IN" sz="1800" dirty="0"/>
              <a:t> training (NB, SVM)Ensemble </a:t>
            </a:r>
            <a:r>
              <a:rPr lang="en-IN" sz="1800" dirty="0" err="1"/>
              <a:t>modelingUI</a:t>
            </a:r>
            <a:r>
              <a:rPr lang="en-IN" sz="1800" dirty="0"/>
              <a:t> development with </a:t>
            </a:r>
            <a:r>
              <a:rPr lang="en-IN" sz="1800" dirty="0" err="1"/>
              <a:t>Streamlit</a:t>
            </a:r>
            <a:endParaRPr lang="en-IN" sz="1800" dirty="0"/>
          </a:p>
          <a:p>
            <a:pPr marL="0" indent="0" algn="just">
              <a:buNone/>
            </a:pPr>
            <a:r>
              <a:rPr lang="en-IN" sz="1800" b="1" dirty="0"/>
              <a:t> 5. Testing</a:t>
            </a:r>
          </a:p>
          <a:p>
            <a:pPr marL="0" indent="0" algn="just">
              <a:buNone/>
            </a:pPr>
            <a:r>
              <a:rPr lang="en-IN" sz="1800" dirty="0"/>
              <a:t>Evaluate using accuracy, precision, confusion matrix. Validate model and vectorizer files.</a:t>
            </a:r>
          </a:p>
          <a:p>
            <a:pPr marL="0" indent="0" algn="just">
              <a:buNone/>
            </a:pPr>
            <a:r>
              <a:rPr lang="en-IN" sz="1800" dirty="0"/>
              <a:t> </a:t>
            </a:r>
            <a:r>
              <a:rPr lang="en-IN" sz="1800" b="1" dirty="0"/>
              <a:t>6. Deployment Build frontend using </a:t>
            </a:r>
            <a:r>
              <a:rPr lang="en-IN" sz="1800" b="1" dirty="0" err="1"/>
              <a:t>Streamlit</a:t>
            </a:r>
            <a:endParaRPr lang="en-IN" sz="1800" b="1" dirty="0"/>
          </a:p>
          <a:p>
            <a:pPr marL="0" indent="0" algn="just">
              <a:buNone/>
            </a:pPr>
            <a:r>
              <a:rPr lang="en-IN" sz="1800" dirty="0"/>
              <a:t>Load models and classify SMS as Spam or Ham in real time.</a:t>
            </a:r>
          </a:p>
          <a:p>
            <a:pPr marL="0" indent="0" algn="just">
              <a:buNone/>
            </a:pPr>
            <a:r>
              <a:rPr lang="en-IN" sz="1800" b="1" dirty="0"/>
              <a:t> 7. Feedback &amp; Maintenance</a:t>
            </a:r>
          </a:p>
          <a:p>
            <a:pPr marL="0" indent="0" algn="just">
              <a:buNone/>
            </a:pPr>
            <a:r>
              <a:rPr lang="en-IN" sz="1800" dirty="0"/>
              <a:t>Collect user feedback, update dataset with new spam, retrain, and redeploy model periodically.</a:t>
            </a:r>
            <a:endParaRPr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Tools &amp; Technologies Used</a:t>
            </a:r>
            <a:endParaRPr b="1" dirty="0"/>
          </a:p>
        </p:txBody>
      </p:sp>
      <p:sp>
        <p:nvSpPr>
          <p:cNvPr id="3" name="Content Placeholder 2"/>
          <p:cNvSpPr>
            <a:spLocks noGrp="1"/>
          </p:cNvSpPr>
          <p:nvPr>
            <p:ph idx="1"/>
          </p:nvPr>
        </p:nvSpPr>
        <p:spPr>
          <a:xfrm>
            <a:off x="628650" y="1484671"/>
            <a:ext cx="7886700" cy="4572000"/>
          </a:xfrm>
        </p:spPr>
        <p:txBody>
          <a:bodyPr>
            <a:normAutofit fontScale="92500" lnSpcReduction="10000"/>
          </a:bodyPr>
          <a:lstStyle/>
          <a:p>
            <a:pPr marL="0" indent="0">
              <a:buNone/>
            </a:pPr>
            <a:r>
              <a:rPr lang="en-IN" dirty="0"/>
              <a:t> </a:t>
            </a:r>
            <a:r>
              <a:rPr lang="en-IN" b="1" dirty="0" err="1"/>
              <a:t>Language:</a:t>
            </a:r>
            <a:r>
              <a:rPr lang="en-IN" dirty="0" err="1"/>
              <a:t>Python</a:t>
            </a:r>
            <a:endParaRPr lang="en-IN" dirty="0"/>
          </a:p>
          <a:p>
            <a:pPr marL="0" indent="0">
              <a:buNone/>
            </a:pPr>
            <a:r>
              <a:rPr lang="en-IN" dirty="0"/>
              <a:t> </a:t>
            </a:r>
            <a:r>
              <a:rPr lang="en-IN" b="1" dirty="0"/>
              <a:t>Libraries &amp; Frameworks:</a:t>
            </a:r>
            <a:endParaRPr lang="en-IN" dirty="0"/>
          </a:p>
          <a:p>
            <a:r>
              <a:rPr lang="en-IN" dirty="0"/>
              <a:t>Pandas, NumPy (Data handling)</a:t>
            </a:r>
          </a:p>
          <a:p>
            <a:r>
              <a:rPr lang="en-IN" dirty="0"/>
              <a:t>NLTK, re (Text preprocessing)</a:t>
            </a:r>
          </a:p>
          <a:p>
            <a:r>
              <a:rPr lang="en-IN" dirty="0"/>
              <a:t>Scikit-learn (ML models, TF-IDF, evaluation)</a:t>
            </a:r>
          </a:p>
          <a:p>
            <a:r>
              <a:rPr lang="en-IN" dirty="0"/>
              <a:t>Pickle (Model saving/loading)</a:t>
            </a:r>
          </a:p>
          <a:p>
            <a:pPr marL="0" indent="0">
              <a:buNone/>
            </a:pPr>
            <a:r>
              <a:rPr lang="en-IN" dirty="0"/>
              <a:t> </a:t>
            </a:r>
            <a:r>
              <a:rPr lang="en-IN" b="1" dirty="0"/>
              <a:t>Visualization:</a:t>
            </a:r>
            <a:endParaRPr lang="en-IN" dirty="0"/>
          </a:p>
          <a:p>
            <a:r>
              <a:rPr lang="en-IN" dirty="0"/>
              <a:t>Matplotlib, Seaborn</a:t>
            </a:r>
          </a:p>
          <a:p>
            <a:pPr marL="0" indent="0">
              <a:buNone/>
            </a:pPr>
            <a:r>
              <a:rPr lang="en-IN" dirty="0"/>
              <a:t> </a:t>
            </a:r>
            <a:r>
              <a:rPr lang="en-IN" b="1" dirty="0"/>
              <a:t>Interface &amp; Deployment:</a:t>
            </a:r>
            <a:endParaRPr lang="en-IN" dirty="0"/>
          </a:p>
          <a:p>
            <a:r>
              <a:rPr lang="en-IN" dirty="0" err="1"/>
              <a:t>Streamlit</a:t>
            </a:r>
            <a:r>
              <a:rPr lang="en-IN" dirty="0"/>
              <a:t> (Web app)</a:t>
            </a:r>
          </a:p>
          <a:p>
            <a:r>
              <a:rPr lang="en-IN" dirty="0" err="1"/>
              <a:t>Jupyter</a:t>
            </a:r>
            <a:r>
              <a:rPr lang="en-IN" dirty="0"/>
              <a:t> Notebook (Development &amp; testing)</a:t>
            </a:r>
          </a:p>
          <a:p>
            <a:pPr marL="0" indent="0">
              <a:buNone/>
            </a:pPr>
            <a:r>
              <a:rPr lang="en-IN" dirty="0"/>
              <a:t> </a:t>
            </a:r>
            <a:r>
              <a:rPr lang="en-IN" b="1" dirty="0"/>
              <a:t>Development Methodology:</a:t>
            </a:r>
            <a:endParaRPr lang="en-IN" dirty="0"/>
          </a:p>
          <a:p>
            <a:r>
              <a:rPr lang="en-IN" dirty="0"/>
              <a:t>Agile Model (Iterative, sprint-based development)</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050719"/>
          </a:xfrm>
        </p:spPr>
        <p:txBody>
          <a:bodyPr>
            <a:normAutofit/>
          </a:bodyPr>
          <a:lstStyle/>
          <a:p>
            <a:pPr algn="ctr"/>
            <a:r>
              <a:rPr lang="en-US" b="1" dirty="0"/>
              <a:t>Software Engineering Model Used </a:t>
            </a:r>
            <a:endParaRPr b="1" dirty="0"/>
          </a:p>
        </p:txBody>
      </p:sp>
      <p:pic>
        <p:nvPicPr>
          <p:cNvPr id="6" name="Content Placeholder 5">
            <a:extLst>
              <a:ext uri="{FF2B5EF4-FFF2-40B4-BE49-F238E27FC236}">
                <a16:creationId xmlns:a16="http://schemas.microsoft.com/office/drawing/2014/main" id="{1DD6D707-EF8A-9F17-446B-196DA5B1E1F7}"/>
              </a:ext>
            </a:extLst>
          </p:cNvPr>
          <p:cNvPicPr>
            <a:picLocks noGrp="1" noChangeAspect="1"/>
          </p:cNvPicPr>
          <p:nvPr>
            <p:ph idx="1"/>
          </p:nvPr>
        </p:nvPicPr>
        <p:blipFill>
          <a:blip r:embed="rId2"/>
          <a:stretch>
            <a:fillRect/>
          </a:stretch>
        </p:blipFill>
        <p:spPr>
          <a:xfrm>
            <a:off x="951271" y="1317523"/>
            <a:ext cx="7241458" cy="4827639"/>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449D9-8FEC-5346-1712-4411F84B6115}"/>
              </a:ext>
            </a:extLst>
          </p:cNvPr>
          <p:cNvSpPr txBox="1"/>
          <p:nvPr/>
        </p:nvSpPr>
        <p:spPr>
          <a:xfrm>
            <a:off x="868483" y="213756"/>
            <a:ext cx="7311956" cy="646331"/>
          </a:xfrm>
          <a:prstGeom prst="rect">
            <a:avLst/>
          </a:prstGeom>
          <a:noFill/>
        </p:spPr>
        <p:txBody>
          <a:bodyPr wrap="square" rtlCol="0">
            <a:spAutoFit/>
          </a:bodyPr>
          <a:lstStyle/>
          <a:p>
            <a:pPr algn="ctr"/>
            <a:r>
              <a:rPr lang="en-US" sz="3600" dirty="0"/>
              <a:t>Results</a:t>
            </a:r>
            <a:endParaRPr lang="en-IN" sz="3600" dirty="0"/>
          </a:p>
        </p:txBody>
      </p:sp>
      <p:pic>
        <p:nvPicPr>
          <p:cNvPr id="6" name="Picture 5">
            <a:extLst>
              <a:ext uri="{FF2B5EF4-FFF2-40B4-BE49-F238E27FC236}">
                <a16:creationId xmlns:a16="http://schemas.microsoft.com/office/drawing/2014/main" id="{D68F73C3-DFAF-9D04-1584-B8011263CF6C}"/>
              </a:ext>
            </a:extLst>
          </p:cNvPr>
          <p:cNvPicPr>
            <a:picLocks noChangeAspect="1"/>
          </p:cNvPicPr>
          <p:nvPr/>
        </p:nvPicPr>
        <p:blipFill>
          <a:blip r:embed="rId2"/>
          <a:stretch>
            <a:fillRect/>
          </a:stretch>
        </p:blipFill>
        <p:spPr>
          <a:xfrm>
            <a:off x="868484" y="1000733"/>
            <a:ext cx="5139025" cy="2697989"/>
          </a:xfrm>
          <a:prstGeom prst="rect">
            <a:avLst/>
          </a:prstGeom>
        </p:spPr>
      </p:pic>
      <p:pic>
        <p:nvPicPr>
          <p:cNvPr id="8" name="Picture 7">
            <a:extLst>
              <a:ext uri="{FF2B5EF4-FFF2-40B4-BE49-F238E27FC236}">
                <a16:creationId xmlns:a16="http://schemas.microsoft.com/office/drawing/2014/main" id="{A61A3C88-7151-73B1-D4A2-9C6EEA6CFA74}"/>
              </a:ext>
            </a:extLst>
          </p:cNvPr>
          <p:cNvPicPr>
            <a:picLocks noChangeAspect="1"/>
          </p:cNvPicPr>
          <p:nvPr/>
        </p:nvPicPr>
        <p:blipFill>
          <a:blip r:embed="rId3"/>
          <a:stretch>
            <a:fillRect/>
          </a:stretch>
        </p:blipFill>
        <p:spPr>
          <a:xfrm>
            <a:off x="868483" y="3759443"/>
            <a:ext cx="5139025" cy="2697988"/>
          </a:xfrm>
          <a:prstGeom prst="rect">
            <a:avLst/>
          </a:prstGeom>
        </p:spPr>
      </p:pic>
    </p:spTree>
    <p:extLst>
      <p:ext uri="{BB962C8B-B14F-4D97-AF65-F5344CB8AC3E}">
        <p14:creationId xmlns:p14="http://schemas.microsoft.com/office/powerpoint/2010/main" val="738605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742" y="620765"/>
            <a:ext cx="7541342" cy="854074"/>
          </a:xfrm>
        </p:spPr>
        <p:txBody>
          <a:bodyPr/>
          <a:lstStyle/>
          <a:p>
            <a:pPr algn="ctr"/>
            <a:r>
              <a:rPr b="1" dirty="0"/>
              <a:t>Conclusion</a:t>
            </a:r>
          </a:p>
        </p:txBody>
      </p:sp>
      <p:sp>
        <p:nvSpPr>
          <p:cNvPr id="3" name="Content Placeholder 2"/>
          <p:cNvSpPr>
            <a:spLocks noGrp="1"/>
          </p:cNvSpPr>
          <p:nvPr>
            <p:ph idx="1"/>
          </p:nvPr>
        </p:nvSpPr>
        <p:spPr>
          <a:xfrm>
            <a:off x="1032386" y="1710812"/>
            <a:ext cx="7226711" cy="4782062"/>
          </a:xfrm>
        </p:spPr>
        <p:txBody>
          <a:bodyPr>
            <a:normAutofit/>
          </a:bodyPr>
          <a:lstStyle/>
          <a:p>
            <a:pPr algn="just"/>
            <a:r>
              <a:rPr lang="en-US" sz="1800" dirty="0"/>
              <a:t>The Email Spam Detection project demonstrates the effective use of Machine Learning and NLP to identify spam messages with high accuracy. Using the Agile development model, the project was built through iterative sprints, enabling continuous refinement and adaptability.</a:t>
            </a:r>
          </a:p>
          <a:p>
            <a:pPr algn="just"/>
            <a:r>
              <a:rPr lang="en-US" sz="1800" dirty="0"/>
              <a:t> The dataset was preprocessed using techniques like </a:t>
            </a:r>
            <a:r>
              <a:rPr lang="en-US" sz="1800" dirty="0" err="1"/>
              <a:t>stopword</a:t>
            </a:r>
            <a:r>
              <a:rPr lang="en-US" sz="1800" dirty="0"/>
              <a:t> removal and stemming, and features were extracted using TF-IDF vectorization. Models such as Naive Bayes and SVM were trained and evaluated, achieving reliable classification results.</a:t>
            </a:r>
          </a:p>
          <a:p>
            <a:pPr algn="just"/>
            <a:r>
              <a:rPr lang="en-US" sz="1800" dirty="0"/>
              <a:t>A lightweight and interactive </a:t>
            </a:r>
            <a:r>
              <a:rPr lang="en-US" sz="1800" dirty="0" err="1"/>
              <a:t>Streamlit</a:t>
            </a:r>
            <a:r>
              <a:rPr lang="en-US" sz="1800" dirty="0"/>
              <a:t> interface was developed for real-time spam prediction. The system efficiently classifies user input as spam or ham, making it practical and user-friendly.</a:t>
            </a:r>
          </a:p>
          <a:p>
            <a:pPr algn="just"/>
            <a:r>
              <a:rPr lang="en-US" sz="1800" dirty="0"/>
              <a:t> With periodic updates and user feedback, the model can be retrained to handle evolving spam patterns. This project showcases a robust, scalable solution for real-world email and SMS filtering.</a:t>
            </a:r>
          </a:p>
          <a:p>
            <a:pPr marL="0" indent="0" algn="just">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922" y="865239"/>
            <a:ext cx="7492181" cy="688258"/>
          </a:xfrm>
        </p:spPr>
        <p:txBody>
          <a:bodyPr>
            <a:normAutofit/>
          </a:bodyPr>
          <a:lstStyle/>
          <a:p>
            <a:pPr algn="ctr"/>
            <a:r>
              <a:rPr b="1" dirty="0"/>
              <a:t>Future Scope</a:t>
            </a:r>
          </a:p>
        </p:txBody>
      </p:sp>
      <p:sp>
        <p:nvSpPr>
          <p:cNvPr id="8" name="Rectangle 1">
            <a:extLst>
              <a:ext uri="{FF2B5EF4-FFF2-40B4-BE49-F238E27FC236}">
                <a16:creationId xmlns:a16="http://schemas.microsoft.com/office/drawing/2014/main" id="{3FD4026E-312A-7AD7-FA77-93E2D8C1E3E1}"/>
              </a:ext>
            </a:extLst>
          </p:cNvPr>
          <p:cNvSpPr>
            <a:spLocks noGrp="1" noChangeArrowheads="1"/>
          </p:cNvSpPr>
          <p:nvPr>
            <p:ph idx="1"/>
          </p:nvPr>
        </p:nvSpPr>
        <p:spPr bwMode="auto">
          <a:xfrm>
            <a:off x="1002890" y="1859339"/>
            <a:ext cx="71382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with real email platforms for live spam filtering.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deep learning models (e.g., LSTM, BERT) for better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multilingual spam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continuous learning for adapting to new spam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mobile app for SMS spam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Extend to phishing and malware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50606"/>
            <a:ext cx="7787763" cy="698091"/>
          </a:xfrm>
        </p:spPr>
        <p:txBody>
          <a:bodyPr/>
          <a:lstStyle/>
          <a:p>
            <a:pPr algn="ctr"/>
            <a:r>
              <a:rPr b="1" dirty="0"/>
              <a:t>References</a:t>
            </a:r>
          </a:p>
        </p:txBody>
      </p:sp>
      <p:sp>
        <p:nvSpPr>
          <p:cNvPr id="3" name="Content Placeholder 2"/>
          <p:cNvSpPr>
            <a:spLocks noGrp="1"/>
          </p:cNvSpPr>
          <p:nvPr>
            <p:ph idx="1"/>
          </p:nvPr>
        </p:nvSpPr>
        <p:spPr>
          <a:xfrm>
            <a:off x="628650" y="1484671"/>
            <a:ext cx="7886700" cy="4692292"/>
          </a:xfrm>
        </p:spPr>
        <p:txBody>
          <a:bodyPr>
            <a:normAutofit/>
          </a:bodyPr>
          <a:lstStyle/>
          <a:p>
            <a:r>
              <a:rPr lang="en-IN" sz="1800" dirty="0" err="1"/>
              <a:t>Sahami</a:t>
            </a:r>
            <a:r>
              <a:rPr lang="en-IN" sz="1800" dirty="0"/>
              <a:t>, M., Dumais, S., Heckerman, D., &amp; Horvitz, E. (1998). </a:t>
            </a:r>
            <a:r>
              <a:rPr lang="en-IN" sz="1800" i="1" dirty="0"/>
              <a:t>A Bayesian Approach to Filtering Junk E-Mail.</a:t>
            </a:r>
            <a:r>
              <a:rPr lang="en-IN" sz="1800" dirty="0"/>
              <a:t> AAAI Workshop on Learning for Text Categorization.</a:t>
            </a:r>
          </a:p>
          <a:p>
            <a:r>
              <a:rPr lang="en-IN" sz="1800" dirty="0"/>
              <a:t>Islam, M. N., &amp; Hasan, M. K. (2018). </a:t>
            </a:r>
            <a:r>
              <a:rPr lang="en-IN" sz="1800" i="1" dirty="0"/>
              <a:t>Email Spam Filtering using Supervised Machine Learning Techniques.</a:t>
            </a:r>
            <a:r>
              <a:rPr lang="en-IN" sz="1800" dirty="0"/>
              <a:t> International Journal of Computer Applications, 182(43).</a:t>
            </a:r>
          </a:p>
          <a:p>
            <a:r>
              <a:rPr lang="en-IN" sz="1800" dirty="0"/>
              <a:t>Sharma, A., &amp; Gupta, R. (2019). </a:t>
            </a:r>
            <a:r>
              <a:rPr lang="en-IN" sz="1800" i="1" dirty="0"/>
              <a:t>Spam Filtering using NLP and Machine Learning.</a:t>
            </a:r>
            <a:r>
              <a:rPr lang="en-IN" sz="1800" dirty="0"/>
              <a:t> International Journal of Scientific Research in Computer Science.</a:t>
            </a:r>
          </a:p>
          <a:p>
            <a:r>
              <a:rPr lang="en-IN" sz="1800" dirty="0"/>
              <a:t>Scikit-learn Documentation. </a:t>
            </a:r>
            <a:r>
              <a:rPr lang="en-IN" sz="1800" i="1" dirty="0"/>
              <a:t>Machine Learning in Python.</a:t>
            </a:r>
            <a:r>
              <a:rPr lang="en-IN" sz="1800" dirty="0"/>
              <a:t> Available at: </a:t>
            </a:r>
            <a:r>
              <a:rPr lang="en-IN" sz="1800" dirty="0">
                <a:hlinkClick r:id="rId2"/>
              </a:rPr>
              <a:t>https://scikit-learn.org</a:t>
            </a:r>
            <a:endParaRPr lang="en-IN" sz="1800" dirty="0"/>
          </a:p>
          <a:p>
            <a:r>
              <a:rPr lang="en-IN" sz="1800" dirty="0"/>
              <a:t>NLTK – Natural Language Toolkit. </a:t>
            </a:r>
            <a:r>
              <a:rPr lang="en-IN" sz="1800" i="1" dirty="0"/>
              <a:t>Text Processing in Python.</a:t>
            </a:r>
            <a:r>
              <a:rPr lang="en-IN" sz="1800" dirty="0"/>
              <a:t> Available at: </a:t>
            </a:r>
            <a:r>
              <a:rPr lang="en-IN" sz="1800" dirty="0">
                <a:hlinkClick r:id="rId3"/>
              </a:rPr>
              <a:t>https://www.nltk.org</a:t>
            </a:r>
            <a:endParaRPr lang="en-IN" sz="1800" dirty="0"/>
          </a:p>
          <a:p>
            <a:r>
              <a:rPr lang="en-IN" sz="1800" dirty="0"/>
              <a:t>Scrum.org. (2020). </a:t>
            </a:r>
            <a:r>
              <a:rPr lang="en-IN" sz="1800" i="1" dirty="0"/>
              <a:t>The Scrum Guide – The Definitive Guide to Scrum.</a:t>
            </a:r>
            <a:r>
              <a:rPr lang="en-IN" sz="1800" dirty="0"/>
              <a:t> Available at: </a:t>
            </a:r>
            <a:r>
              <a:rPr lang="en-IN" sz="1800" dirty="0">
                <a:hlinkClick r:id="rId4"/>
              </a:rPr>
              <a:t>https://scrumguides.org</a:t>
            </a:r>
            <a:endParaRPr lang="en-IN" sz="1800" dirty="0"/>
          </a:p>
          <a:p>
            <a:pPr marL="0" indent="0">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F2A36A-F4F5-E7ED-FA33-1B63653319BE}"/>
              </a:ext>
            </a:extLst>
          </p:cNvPr>
          <p:cNvSpPr>
            <a:spLocks noGrp="1"/>
          </p:cNvSpPr>
          <p:nvPr>
            <p:ph type="title"/>
          </p:nvPr>
        </p:nvSpPr>
        <p:spPr>
          <a:xfrm>
            <a:off x="1150375" y="2074606"/>
            <a:ext cx="6597444" cy="1779639"/>
          </a:xfrm>
        </p:spPr>
        <p:txBody>
          <a:bodyPr>
            <a:noAutofit/>
          </a:bodyPr>
          <a:lstStyle/>
          <a:p>
            <a:r>
              <a:rPr lang="en-US" sz="6000" dirty="0"/>
              <a:t>         THANK YOU</a:t>
            </a:r>
            <a:endParaRPr lang="en-IN"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274</TotalTime>
  <Words>987</Words>
  <Application>Microsoft Office PowerPoint</Application>
  <PresentationFormat>On-screen Show (4:3)</PresentationFormat>
  <Paragraphs>83</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      STANLEY COLLEGE OF ENGINEERING AND TECHNOLOGY FOR WOMEN (AUTONOMOUS)  (Affiliated to Osmania University &amp; Approved by AICTE) (All eligible UG Courses are accredited by NBA &amp; Accredited by NAAC with ‘A’ Grade)  </vt:lpstr>
      <vt:lpstr>                          Introduction                </vt:lpstr>
      <vt:lpstr>Problem Statement </vt:lpstr>
      <vt:lpstr>Objectives</vt:lpstr>
      <vt:lpstr>PowerPoint Presentation</vt:lpstr>
      <vt:lpstr>Methodology</vt:lpstr>
      <vt:lpstr>PowerPoint Presentation</vt:lpstr>
      <vt:lpstr>Tools &amp; Technologies Used</vt:lpstr>
      <vt:lpstr>Software Engineering Model Used </vt:lpstr>
      <vt:lpstr>PowerPoint Presentation</vt:lpstr>
      <vt:lpstr>Conclusion</vt:lpstr>
      <vt:lpstr>Future Scope</vt:lpstr>
      <vt:lpstr>References</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dc:title>
  <dc:subject/>
  <dc:creator>GUNDLA HARIKA</dc:creator>
  <cp:keywords/>
  <dc:description>generated using python-pptx</dc:description>
  <cp:lastModifiedBy>harikagundla2005@outlook.com</cp:lastModifiedBy>
  <cp:revision>14</cp:revision>
  <dcterms:created xsi:type="dcterms:W3CDTF">2013-01-27T09:14:16Z</dcterms:created>
  <dcterms:modified xsi:type="dcterms:W3CDTF">2025-06-20T16:01:25Z</dcterms:modified>
  <cp:category/>
</cp:coreProperties>
</file>