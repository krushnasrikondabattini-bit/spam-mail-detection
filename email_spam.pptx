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53" d="100"/>
          <a:sy n="53" d="100"/>
        </p:scale>
        <p:origin x="748"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61318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DED2"/>
          </a:solidFill>
          <a:ln/>
        </p:spPr>
      </p:sp>
      <p:sp>
        <p:nvSpPr>
          <p:cNvPr id="3" name="Shape 1"/>
          <p:cNvSpPr/>
          <p:nvPr/>
        </p:nvSpPr>
        <p:spPr>
          <a:xfrm>
            <a:off x="0" y="0"/>
            <a:ext cx="14630400" cy="8229600"/>
          </a:xfrm>
          <a:prstGeom prst="rect">
            <a:avLst/>
          </a:prstGeom>
          <a:solidFill>
            <a:srgbClr val="FDFBF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184083"/>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3A3A3A"/>
                </a:solidFill>
                <a:latin typeface="Noto Serif Medium" pitchFamily="34" charset="0"/>
                <a:ea typeface="Noto Serif Medium" pitchFamily="34" charset="-122"/>
                <a:cs typeface="Noto Serif Medium" pitchFamily="34" charset="-120"/>
              </a:rPr>
              <a:t>Fighting Spam with Machine Learning</a:t>
            </a:r>
            <a:endParaRPr lang="en-US" sz="4450" dirty="0"/>
          </a:p>
        </p:txBody>
      </p:sp>
      <p:sp>
        <p:nvSpPr>
          <p:cNvPr id="4" name="Text 1"/>
          <p:cNvSpPr/>
          <p:nvPr/>
        </p:nvSpPr>
        <p:spPr>
          <a:xfrm>
            <a:off x="6280190" y="3941802"/>
            <a:ext cx="7556421" cy="1451610"/>
          </a:xfrm>
          <a:prstGeom prst="rect">
            <a:avLst/>
          </a:prstGeom>
          <a:noFill/>
          <a:ln/>
        </p:spPr>
        <p:txBody>
          <a:bodyPr wrap="square" lIns="0" tIns="0" rIns="0" bIns="0" rtlCol="0" anchor="t"/>
          <a:lstStyle/>
          <a:p>
            <a:pPr marL="0" indent="0" algn="l">
              <a:lnSpc>
                <a:spcPts val="2850"/>
              </a:lnSpc>
              <a:buNone/>
            </a:pPr>
            <a:r>
              <a:rPr lang="en-US" sz="1750" dirty="0">
                <a:solidFill>
                  <a:srgbClr val="4C4C4C"/>
                </a:solidFill>
                <a:latin typeface="Noto Serif" pitchFamily="34" charset="0"/>
                <a:ea typeface="Noto Serif" pitchFamily="34" charset="-122"/>
                <a:cs typeface="Noto Serif" pitchFamily="34" charset="-120"/>
              </a:rPr>
              <a:t>Unwanted emails are a daily challenge. They hide risks like phishing and malware. Our project tackles this head-on. We're building smart systems to keep your inbox safe. Let's explore how AI can make a difference.</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198840"/>
            <a:ext cx="7908846" cy="708779"/>
          </a:xfrm>
          <a:prstGeom prst="rect">
            <a:avLst/>
          </a:prstGeom>
          <a:noFill/>
          <a:ln/>
        </p:spPr>
        <p:txBody>
          <a:bodyPr wrap="none" lIns="0" tIns="0" rIns="0" bIns="0" rtlCol="0" anchor="t"/>
          <a:lstStyle/>
          <a:p>
            <a:pPr marL="0" indent="0" algn="l">
              <a:lnSpc>
                <a:spcPts val="5550"/>
              </a:lnSpc>
              <a:buNone/>
            </a:pPr>
            <a:r>
              <a:rPr lang="en-US" sz="4450" dirty="0">
                <a:solidFill>
                  <a:srgbClr val="3A3A3A"/>
                </a:solidFill>
                <a:latin typeface="Noto Serif Medium" pitchFamily="34" charset="0"/>
                <a:ea typeface="Noto Serif Medium" pitchFamily="34" charset="-122"/>
                <a:cs typeface="Noto Serif Medium" pitchFamily="34" charset="-120"/>
              </a:rPr>
              <a:t>The Growing Threat of Spam</a:t>
            </a:r>
            <a:endParaRPr lang="en-US" sz="4450" dirty="0"/>
          </a:p>
        </p:txBody>
      </p:sp>
      <p:sp>
        <p:nvSpPr>
          <p:cNvPr id="3" name="Text 1"/>
          <p:cNvSpPr/>
          <p:nvPr/>
        </p:nvSpPr>
        <p:spPr>
          <a:xfrm>
            <a:off x="793790" y="2451854"/>
            <a:ext cx="6244709" cy="1451610"/>
          </a:xfrm>
          <a:prstGeom prst="rect">
            <a:avLst/>
          </a:prstGeom>
          <a:noFill/>
          <a:ln/>
        </p:spPr>
        <p:txBody>
          <a:bodyPr wrap="square" lIns="0" tIns="0" rIns="0" bIns="0" rtlCol="0" anchor="t"/>
          <a:lstStyle/>
          <a:p>
            <a:pPr marL="0" indent="0" algn="l">
              <a:lnSpc>
                <a:spcPts val="2850"/>
              </a:lnSpc>
              <a:buNone/>
            </a:pPr>
            <a:r>
              <a:rPr lang="en-US" sz="1750" dirty="0">
                <a:solidFill>
                  <a:srgbClr val="4C4C4C"/>
                </a:solidFill>
                <a:latin typeface="Noto Serif" pitchFamily="34" charset="0"/>
                <a:ea typeface="Noto Serif" pitchFamily="34" charset="-122"/>
                <a:cs typeface="Noto Serif" pitchFamily="34" charset="-120"/>
              </a:rPr>
              <a:t>Spam isn't just annoying; it's dangerous. These unsolicited messages often carry malicious payloads. Phishing links trick users. Malware can infect entire systems. Unwanted ads clutter our digital lives.</a:t>
            </a:r>
            <a:endParaRPr lang="en-US" sz="1750" dirty="0"/>
          </a:p>
        </p:txBody>
      </p:sp>
      <p:pic>
        <p:nvPicPr>
          <p:cNvPr id="4" name="Image 0" descr="preencoded.png"/>
          <p:cNvPicPr>
            <a:picLocks noChangeAspect="1"/>
          </p:cNvPicPr>
          <p:nvPr/>
        </p:nvPicPr>
        <p:blipFill>
          <a:blip r:embed="rId3"/>
          <a:stretch>
            <a:fillRect/>
          </a:stretch>
        </p:blipFill>
        <p:spPr>
          <a:xfrm>
            <a:off x="7599521" y="2502932"/>
            <a:ext cx="6244709" cy="427267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801541"/>
          </a:xfrm>
          <a:prstGeom prst="rect">
            <a:avLst/>
          </a:prstGeom>
        </p:spPr>
      </p:pic>
      <p:sp>
        <p:nvSpPr>
          <p:cNvPr id="3" name="Text 0"/>
          <p:cNvSpPr/>
          <p:nvPr/>
        </p:nvSpPr>
        <p:spPr>
          <a:xfrm>
            <a:off x="784384" y="3418999"/>
            <a:ext cx="9954101" cy="700326"/>
          </a:xfrm>
          <a:prstGeom prst="rect">
            <a:avLst/>
          </a:prstGeom>
          <a:noFill/>
          <a:ln/>
        </p:spPr>
        <p:txBody>
          <a:bodyPr wrap="none" lIns="0" tIns="0" rIns="0" bIns="0" rtlCol="0" anchor="t"/>
          <a:lstStyle/>
          <a:p>
            <a:pPr marL="0" indent="0" algn="l">
              <a:lnSpc>
                <a:spcPts val="5500"/>
              </a:lnSpc>
              <a:buNone/>
            </a:pPr>
            <a:r>
              <a:rPr lang="en-US" sz="4400" dirty="0">
                <a:solidFill>
                  <a:srgbClr val="3A3A3A"/>
                </a:solidFill>
                <a:latin typeface="Noto Serif Medium" pitchFamily="34" charset="0"/>
                <a:ea typeface="Noto Serif Medium" pitchFamily="34" charset="-122"/>
                <a:cs typeface="Noto Serif Medium" pitchFamily="34" charset="-120"/>
              </a:rPr>
              <a:t>Our Solution: ML-Powered Detection</a:t>
            </a:r>
            <a:endParaRPr lang="en-US" sz="4400" dirty="0"/>
          </a:p>
        </p:txBody>
      </p:sp>
      <p:sp>
        <p:nvSpPr>
          <p:cNvPr id="4" name="Text 1"/>
          <p:cNvSpPr/>
          <p:nvPr/>
        </p:nvSpPr>
        <p:spPr>
          <a:xfrm>
            <a:off x="784384" y="4455438"/>
            <a:ext cx="13061633" cy="716994"/>
          </a:xfrm>
          <a:prstGeom prst="rect">
            <a:avLst/>
          </a:prstGeom>
          <a:noFill/>
          <a:ln/>
        </p:spPr>
        <p:txBody>
          <a:bodyPr wrap="square" lIns="0" tIns="0" rIns="0" bIns="0" rtlCol="0" anchor="t"/>
          <a:lstStyle/>
          <a:p>
            <a:pPr marL="0" indent="0" algn="l">
              <a:lnSpc>
                <a:spcPts val="2800"/>
              </a:lnSpc>
              <a:buNone/>
            </a:pPr>
            <a:r>
              <a:rPr lang="en-US" sz="1750" dirty="0">
                <a:solidFill>
                  <a:srgbClr val="4C4C4C"/>
                </a:solidFill>
                <a:latin typeface="Noto Serif" pitchFamily="34" charset="0"/>
                <a:ea typeface="Noto Serif" pitchFamily="34" charset="-122"/>
                <a:cs typeface="Noto Serif" pitchFamily="34" charset="-120"/>
              </a:rPr>
              <a:t>Our project develops a machine learning-based spam detection system. It classifies emails as spam or legitimate. This intelligent filter learns from real-world data. It acts as your digital gatekeeper.</a:t>
            </a:r>
            <a:endParaRPr lang="en-US" sz="1750" dirty="0"/>
          </a:p>
        </p:txBody>
      </p:sp>
      <p:pic>
        <p:nvPicPr>
          <p:cNvPr id="5" name="Image 1" descr="preencoded.png"/>
          <p:cNvPicPr>
            <a:picLocks noChangeAspect="1"/>
          </p:cNvPicPr>
          <p:nvPr/>
        </p:nvPicPr>
        <p:blipFill>
          <a:blip r:embed="rId4"/>
          <a:stretch>
            <a:fillRect/>
          </a:stretch>
        </p:blipFill>
        <p:spPr>
          <a:xfrm>
            <a:off x="784384" y="5424488"/>
            <a:ext cx="4353878" cy="896422"/>
          </a:xfrm>
          <a:prstGeom prst="rect">
            <a:avLst/>
          </a:prstGeom>
        </p:spPr>
      </p:pic>
      <p:sp>
        <p:nvSpPr>
          <p:cNvPr id="6" name="Text 2"/>
          <p:cNvSpPr/>
          <p:nvPr/>
        </p:nvSpPr>
        <p:spPr>
          <a:xfrm>
            <a:off x="1008459" y="6544985"/>
            <a:ext cx="2801541" cy="350163"/>
          </a:xfrm>
          <a:prstGeom prst="rect">
            <a:avLst/>
          </a:prstGeom>
          <a:noFill/>
          <a:ln/>
        </p:spPr>
        <p:txBody>
          <a:bodyPr wrap="none" lIns="0" tIns="0" rIns="0" bIns="0" rtlCol="0" anchor="t"/>
          <a:lstStyle/>
          <a:p>
            <a:pPr marL="0" indent="0" algn="l">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Incoming Email</a:t>
            </a:r>
            <a:endParaRPr lang="en-US" sz="2200" dirty="0"/>
          </a:p>
        </p:txBody>
      </p:sp>
      <p:sp>
        <p:nvSpPr>
          <p:cNvPr id="7" name="Text 3"/>
          <p:cNvSpPr/>
          <p:nvPr/>
        </p:nvSpPr>
        <p:spPr>
          <a:xfrm>
            <a:off x="1008459" y="7029569"/>
            <a:ext cx="3905726" cy="358497"/>
          </a:xfrm>
          <a:prstGeom prst="rect">
            <a:avLst/>
          </a:prstGeom>
          <a:noFill/>
          <a:ln/>
        </p:spPr>
        <p:txBody>
          <a:bodyPr wrap="none" lIns="0" tIns="0" rIns="0" bIns="0" rtlCol="0" anchor="t"/>
          <a:lstStyle/>
          <a:p>
            <a:pPr marL="0" indent="0" algn="l">
              <a:lnSpc>
                <a:spcPts val="2800"/>
              </a:lnSpc>
              <a:buNone/>
            </a:pPr>
            <a:r>
              <a:rPr lang="en-US" sz="1750" dirty="0">
                <a:solidFill>
                  <a:srgbClr val="4C4C4C"/>
                </a:solidFill>
                <a:latin typeface="Noto Serif" pitchFamily="34" charset="0"/>
                <a:ea typeface="Noto Serif" pitchFamily="34" charset="-122"/>
                <a:cs typeface="Noto Serif" pitchFamily="34" charset="-120"/>
              </a:rPr>
              <a:t>Emails arrive in the system.</a:t>
            </a:r>
            <a:endParaRPr lang="en-US" sz="1750" dirty="0"/>
          </a:p>
        </p:txBody>
      </p:sp>
      <p:pic>
        <p:nvPicPr>
          <p:cNvPr id="8" name="Image 2" descr="preencoded.png"/>
          <p:cNvPicPr>
            <a:picLocks noChangeAspect="1"/>
          </p:cNvPicPr>
          <p:nvPr/>
        </p:nvPicPr>
        <p:blipFill>
          <a:blip r:embed="rId5"/>
          <a:stretch>
            <a:fillRect/>
          </a:stretch>
        </p:blipFill>
        <p:spPr>
          <a:xfrm>
            <a:off x="5138261" y="5424488"/>
            <a:ext cx="4353878" cy="896422"/>
          </a:xfrm>
          <a:prstGeom prst="rect">
            <a:avLst/>
          </a:prstGeom>
        </p:spPr>
      </p:pic>
      <p:sp>
        <p:nvSpPr>
          <p:cNvPr id="9" name="Text 4"/>
          <p:cNvSpPr/>
          <p:nvPr/>
        </p:nvSpPr>
        <p:spPr>
          <a:xfrm>
            <a:off x="5362337" y="6544985"/>
            <a:ext cx="2801541" cy="350163"/>
          </a:xfrm>
          <a:prstGeom prst="rect">
            <a:avLst/>
          </a:prstGeom>
          <a:noFill/>
          <a:ln/>
        </p:spPr>
        <p:txBody>
          <a:bodyPr wrap="none" lIns="0" tIns="0" rIns="0" bIns="0" rtlCol="0" anchor="t"/>
          <a:lstStyle/>
          <a:p>
            <a:pPr marL="0" indent="0" algn="l">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ML Analysis</a:t>
            </a:r>
            <a:endParaRPr lang="en-US" sz="2200" dirty="0"/>
          </a:p>
        </p:txBody>
      </p:sp>
      <p:sp>
        <p:nvSpPr>
          <p:cNvPr id="10" name="Text 5"/>
          <p:cNvSpPr/>
          <p:nvPr/>
        </p:nvSpPr>
        <p:spPr>
          <a:xfrm>
            <a:off x="5362337" y="7029569"/>
            <a:ext cx="3905726" cy="358497"/>
          </a:xfrm>
          <a:prstGeom prst="rect">
            <a:avLst/>
          </a:prstGeom>
          <a:noFill/>
          <a:ln/>
        </p:spPr>
        <p:txBody>
          <a:bodyPr wrap="none" lIns="0" tIns="0" rIns="0" bIns="0" rtlCol="0" anchor="t"/>
          <a:lstStyle/>
          <a:p>
            <a:pPr marL="0" indent="0" algn="l">
              <a:lnSpc>
                <a:spcPts val="2800"/>
              </a:lnSpc>
              <a:buNone/>
            </a:pPr>
            <a:r>
              <a:rPr lang="en-US" sz="1750" dirty="0">
                <a:solidFill>
                  <a:srgbClr val="4C4C4C"/>
                </a:solidFill>
                <a:latin typeface="Noto Serif" pitchFamily="34" charset="0"/>
                <a:ea typeface="Noto Serif" pitchFamily="34" charset="-122"/>
                <a:cs typeface="Noto Serif" pitchFamily="34" charset="-120"/>
              </a:rPr>
              <a:t>Algorithms analyze content.</a:t>
            </a:r>
            <a:endParaRPr lang="en-US" sz="1750" dirty="0"/>
          </a:p>
        </p:txBody>
      </p:sp>
      <p:pic>
        <p:nvPicPr>
          <p:cNvPr id="11" name="Image 3" descr="preencoded.png"/>
          <p:cNvPicPr>
            <a:picLocks noChangeAspect="1"/>
          </p:cNvPicPr>
          <p:nvPr/>
        </p:nvPicPr>
        <p:blipFill>
          <a:blip r:embed="rId6"/>
          <a:stretch>
            <a:fillRect/>
          </a:stretch>
        </p:blipFill>
        <p:spPr>
          <a:xfrm>
            <a:off x="9492139" y="5424488"/>
            <a:ext cx="4353878" cy="896422"/>
          </a:xfrm>
          <a:prstGeom prst="rect">
            <a:avLst/>
          </a:prstGeom>
        </p:spPr>
      </p:pic>
      <p:sp>
        <p:nvSpPr>
          <p:cNvPr id="12" name="Text 6"/>
          <p:cNvSpPr/>
          <p:nvPr/>
        </p:nvSpPr>
        <p:spPr>
          <a:xfrm>
            <a:off x="9716214" y="6544985"/>
            <a:ext cx="2801541" cy="350163"/>
          </a:xfrm>
          <a:prstGeom prst="rect">
            <a:avLst/>
          </a:prstGeom>
          <a:noFill/>
          <a:ln/>
        </p:spPr>
        <p:txBody>
          <a:bodyPr wrap="none" lIns="0" tIns="0" rIns="0" bIns="0" rtlCol="0" anchor="t"/>
          <a:lstStyle/>
          <a:p>
            <a:pPr marL="0" indent="0" algn="l">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Classification</a:t>
            </a:r>
            <a:endParaRPr lang="en-US" sz="2200" dirty="0"/>
          </a:p>
        </p:txBody>
      </p:sp>
      <p:sp>
        <p:nvSpPr>
          <p:cNvPr id="13" name="Text 7"/>
          <p:cNvSpPr/>
          <p:nvPr/>
        </p:nvSpPr>
        <p:spPr>
          <a:xfrm>
            <a:off x="9716214" y="7029569"/>
            <a:ext cx="3905726" cy="358497"/>
          </a:xfrm>
          <a:prstGeom prst="rect">
            <a:avLst/>
          </a:prstGeom>
          <a:noFill/>
          <a:ln/>
        </p:spPr>
        <p:txBody>
          <a:bodyPr wrap="none" lIns="0" tIns="0" rIns="0" bIns="0" rtlCol="0" anchor="t"/>
          <a:lstStyle/>
          <a:p>
            <a:pPr marL="0" indent="0" algn="l">
              <a:lnSpc>
                <a:spcPts val="2800"/>
              </a:lnSpc>
              <a:buNone/>
            </a:pPr>
            <a:r>
              <a:rPr lang="en-US" sz="1750" dirty="0">
                <a:solidFill>
                  <a:srgbClr val="4C4C4C"/>
                </a:solidFill>
                <a:latin typeface="Noto Serif" pitchFamily="34" charset="0"/>
                <a:ea typeface="Noto Serif" pitchFamily="34" charset="-122"/>
                <a:cs typeface="Noto Serif" pitchFamily="34" charset="-120"/>
              </a:rPr>
              <a:t>Sorted as spam or ham.</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751761"/>
            <a:ext cx="5741789" cy="708779"/>
          </a:xfrm>
          <a:prstGeom prst="rect">
            <a:avLst/>
          </a:prstGeom>
          <a:noFill/>
          <a:ln/>
        </p:spPr>
        <p:txBody>
          <a:bodyPr wrap="none" lIns="0" tIns="0" rIns="0" bIns="0" rtlCol="0" anchor="t"/>
          <a:lstStyle/>
          <a:p>
            <a:pPr marL="0" indent="0" algn="l">
              <a:lnSpc>
                <a:spcPts val="5550"/>
              </a:lnSpc>
              <a:buNone/>
            </a:pPr>
            <a:r>
              <a:rPr lang="en-US" sz="4450" dirty="0">
                <a:solidFill>
                  <a:srgbClr val="3A3A3A"/>
                </a:solidFill>
                <a:latin typeface="Noto Serif Medium" pitchFamily="34" charset="0"/>
                <a:ea typeface="Noto Serif Medium" pitchFamily="34" charset="-122"/>
                <a:cs typeface="Noto Serif Medium" pitchFamily="34" charset="-120"/>
              </a:rPr>
              <a:t>Building Our Dataset</a:t>
            </a:r>
            <a:endParaRPr lang="en-US" sz="4450" dirty="0"/>
          </a:p>
        </p:txBody>
      </p:sp>
      <p:sp>
        <p:nvSpPr>
          <p:cNvPr id="3" name="Text 1"/>
          <p:cNvSpPr/>
          <p:nvPr/>
        </p:nvSpPr>
        <p:spPr>
          <a:xfrm>
            <a:off x="793790" y="1914168"/>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4C4C4C"/>
                </a:solidFill>
                <a:latin typeface="Noto Serif" pitchFamily="34" charset="0"/>
                <a:ea typeface="Noto Serif" pitchFamily="34" charset="-122"/>
                <a:cs typeface="Noto Serif" pitchFamily="34" charset="-120"/>
              </a:rPr>
              <a:t>We train our system with a vast email dataset. Each email is carefully labeled. This teaches the model what to look for. It's the foundation of effective detection.</a:t>
            </a:r>
            <a:endParaRPr lang="en-US" sz="1750" dirty="0"/>
          </a:p>
        </p:txBody>
      </p:sp>
      <p:pic>
        <p:nvPicPr>
          <p:cNvPr id="4" name="Image 0" descr="preencoded.png"/>
          <p:cNvPicPr>
            <a:picLocks noChangeAspect="1"/>
          </p:cNvPicPr>
          <p:nvPr/>
        </p:nvPicPr>
        <p:blipFill>
          <a:blip r:embed="rId3"/>
          <a:stretch>
            <a:fillRect/>
          </a:stretch>
        </p:blipFill>
        <p:spPr>
          <a:xfrm>
            <a:off x="801410" y="3041094"/>
            <a:ext cx="4221480" cy="4221480"/>
          </a:xfrm>
          <a:prstGeom prst="rect">
            <a:avLst/>
          </a:prstGeom>
        </p:spPr>
      </p:pic>
      <p:pic>
        <p:nvPicPr>
          <p:cNvPr id="5" name="Image 1" descr="preencoded.png"/>
          <p:cNvPicPr>
            <a:picLocks noChangeAspect="1"/>
          </p:cNvPicPr>
          <p:nvPr/>
        </p:nvPicPr>
        <p:blipFill>
          <a:blip r:embed="rId4"/>
          <a:stretch>
            <a:fillRect/>
          </a:stretch>
        </p:blipFill>
        <p:spPr>
          <a:xfrm>
            <a:off x="5204341" y="3041094"/>
            <a:ext cx="4221599" cy="4221599"/>
          </a:xfrm>
          <a:prstGeom prst="rect">
            <a:avLst/>
          </a:prstGeom>
        </p:spPr>
      </p:pic>
      <p:pic>
        <p:nvPicPr>
          <p:cNvPr id="6" name="Image 2" descr="preencoded.png"/>
          <p:cNvPicPr>
            <a:picLocks noChangeAspect="1"/>
          </p:cNvPicPr>
          <p:nvPr/>
        </p:nvPicPr>
        <p:blipFill>
          <a:blip r:embed="rId5"/>
          <a:stretch>
            <a:fillRect/>
          </a:stretch>
        </p:blipFill>
        <p:spPr>
          <a:xfrm>
            <a:off x="9607391" y="3041094"/>
            <a:ext cx="4221599" cy="422159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657600" cy="8229600"/>
          </a:xfrm>
          <a:prstGeom prst="rect">
            <a:avLst/>
          </a:prstGeom>
        </p:spPr>
      </p:pic>
      <p:sp>
        <p:nvSpPr>
          <p:cNvPr id="3" name="Text 0"/>
          <p:cNvSpPr/>
          <p:nvPr/>
        </p:nvSpPr>
        <p:spPr>
          <a:xfrm>
            <a:off x="4451390" y="1482804"/>
            <a:ext cx="8002310" cy="708779"/>
          </a:xfrm>
          <a:prstGeom prst="rect">
            <a:avLst/>
          </a:prstGeom>
          <a:noFill/>
          <a:ln/>
        </p:spPr>
        <p:txBody>
          <a:bodyPr wrap="none" lIns="0" tIns="0" rIns="0" bIns="0" rtlCol="0" anchor="t"/>
          <a:lstStyle/>
          <a:p>
            <a:pPr marL="0" indent="0" algn="l">
              <a:lnSpc>
                <a:spcPts val="5550"/>
              </a:lnSpc>
              <a:buNone/>
            </a:pPr>
            <a:r>
              <a:rPr lang="en-US" sz="4450" dirty="0">
                <a:solidFill>
                  <a:srgbClr val="3A3A3A"/>
                </a:solidFill>
                <a:latin typeface="Noto Serif Medium" pitchFamily="34" charset="0"/>
                <a:ea typeface="Noto Serif Medium" pitchFamily="34" charset="-122"/>
                <a:cs typeface="Noto Serif Medium" pitchFamily="34" charset="-120"/>
              </a:rPr>
              <a:t>Natural Language Processing</a:t>
            </a:r>
            <a:endParaRPr lang="en-US" sz="4450" dirty="0"/>
          </a:p>
        </p:txBody>
      </p:sp>
      <p:sp>
        <p:nvSpPr>
          <p:cNvPr id="4" name="Text 1"/>
          <p:cNvSpPr/>
          <p:nvPr/>
        </p:nvSpPr>
        <p:spPr>
          <a:xfrm>
            <a:off x="4451390" y="2531745"/>
            <a:ext cx="9385221" cy="1088708"/>
          </a:xfrm>
          <a:prstGeom prst="rect">
            <a:avLst/>
          </a:prstGeom>
          <a:noFill/>
          <a:ln/>
        </p:spPr>
        <p:txBody>
          <a:bodyPr wrap="square" lIns="0" tIns="0" rIns="0" bIns="0" rtlCol="0" anchor="t"/>
          <a:lstStyle/>
          <a:p>
            <a:pPr marL="0" indent="0" algn="l">
              <a:lnSpc>
                <a:spcPts val="2850"/>
              </a:lnSpc>
              <a:buNone/>
            </a:pPr>
            <a:r>
              <a:rPr lang="en-US" sz="1750" dirty="0">
                <a:solidFill>
                  <a:srgbClr val="4C4C4C"/>
                </a:solidFill>
                <a:latin typeface="Noto Serif" pitchFamily="34" charset="0"/>
                <a:ea typeface="Noto Serif" pitchFamily="34" charset="-122"/>
                <a:cs typeface="Noto Serif" pitchFamily="34" charset="-120"/>
              </a:rPr>
              <a:t>We use NLP to prepare email content. This transforms text into usable data. It helps our models understand language nuances. Tokenization breaks down words. Stemming reduces words to their root. TF-IDF weighs word importance.</a:t>
            </a:r>
            <a:endParaRPr lang="en-US" sz="1750" dirty="0"/>
          </a:p>
        </p:txBody>
      </p:sp>
      <p:sp>
        <p:nvSpPr>
          <p:cNvPr id="5" name="Shape 2"/>
          <p:cNvSpPr/>
          <p:nvPr/>
        </p:nvSpPr>
        <p:spPr>
          <a:xfrm>
            <a:off x="4451390" y="3875603"/>
            <a:ext cx="4579144" cy="1322189"/>
          </a:xfrm>
          <a:prstGeom prst="roundRect">
            <a:avLst>
              <a:gd name="adj" fmla="val 7205"/>
            </a:avLst>
          </a:prstGeom>
          <a:solidFill>
            <a:srgbClr val="E6DED2">
              <a:alpha val="50000"/>
            </a:srgbClr>
          </a:solidFill>
          <a:ln w="7620">
            <a:solidFill>
              <a:srgbClr val="CCC4B8"/>
            </a:solidFill>
            <a:prstDash val="solid"/>
          </a:ln>
          <a:effectLst>
            <a:outerShdw dist="20320" dir="2700000" algn="bl" rotWithShape="0">
              <a:srgbClr val="CCC4B8">
                <a:alpha val="100000"/>
              </a:srgbClr>
            </a:outerShdw>
          </a:effectLst>
        </p:spPr>
      </p:sp>
      <p:sp>
        <p:nvSpPr>
          <p:cNvPr id="6" name="Text 3"/>
          <p:cNvSpPr/>
          <p:nvPr/>
        </p:nvSpPr>
        <p:spPr>
          <a:xfrm>
            <a:off x="4685824" y="411003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000000"/>
                </a:solidFill>
                <a:latin typeface="Noto Serif Medium" pitchFamily="34" charset="0"/>
                <a:ea typeface="Noto Serif Medium" pitchFamily="34" charset="-122"/>
                <a:cs typeface="Noto Serif Medium" pitchFamily="34" charset="-120"/>
              </a:rPr>
              <a:t>Tokenization</a:t>
            </a:r>
            <a:endParaRPr lang="en-US" sz="2200" dirty="0"/>
          </a:p>
        </p:txBody>
      </p:sp>
      <p:sp>
        <p:nvSpPr>
          <p:cNvPr id="7" name="Text 4"/>
          <p:cNvSpPr/>
          <p:nvPr/>
        </p:nvSpPr>
        <p:spPr>
          <a:xfrm>
            <a:off x="4685824" y="4600456"/>
            <a:ext cx="4110276" cy="362903"/>
          </a:xfrm>
          <a:prstGeom prst="rect">
            <a:avLst/>
          </a:prstGeom>
          <a:noFill/>
          <a:ln/>
        </p:spPr>
        <p:txBody>
          <a:bodyPr wrap="none" lIns="0" tIns="0" rIns="0" bIns="0" rtlCol="0" anchor="t"/>
          <a:lstStyle/>
          <a:p>
            <a:pPr marL="0" indent="0" algn="l">
              <a:lnSpc>
                <a:spcPts val="2850"/>
              </a:lnSpc>
              <a:buNone/>
            </a:pPr>
            <a:r>
              <a:rPr lang="en-US" sz="1750" dirty="0">
                <a:solidFill>
                  <a:srgbClr val="000000"/>
                </a:solidFill>
                <a:latin typeface="Noto Serif" pitchFamily="34" charset="0"/>
                <a:ea typeface="Noto Serif" pitchFamily="34" charset="-122"/>
                <a:cs typeface="Noto Serif" pitchFamily="34" charset="-120"/>
              </a:rPr>
              <a:t>Breaking text into smaller units.</a:t>
            </a:r>
            <a:endParaRPr lang="en-US" sz="1750" dirty="0"/>
          </a:p>
        </p:txBody>
      </p:sp>
      <p:sp>
        <p:nvSpPr>
          <p:cNvPr id="8" name="Shape 5"/>
          <p:cNvSpPr/>
          <p:nvPr/>
        </p:nvSpPr>
        <p:spPr>
          <a:xfrm>
            <a:off x="9257348" y="3875603"/>
            <a:ext cx="4579263" cy="1322189"/>
          </a:xfrm>
          <a:prstGeom prst="roundRect">
            <a:avLst>
              <a:gd name="adj" fmla="val 7205"/>
            </a:avLst>
          </a:prstGeom>
          <a:solidFill>
            <a:srgbClr val="E6DED2">
              <a:alpha val="50000"/>
            </a:srgbClr>
          </a:solidFill>
          <a:ln w="7620">
            <a:solidFill>
              <a:srgbClr val="CCC4B8"/>
            </a:solidFill>
            <a:prstDash val="solid"/>
          </a:ln>
          <a:effectLst>
            <a:outerShdw dist="20320" dir="2700000" algn="bl" rotWithShape="0">
              <a:srgbClr val="CCC4B8">
                <a:alpha val="100000"/>
              </a:srgbClr>
            </a:outerShdw>
          </a:effectLst>
        </p:spPr>
      </p:sp>
      <p:sp>
        <p:nvSpPr>
          <p:cNvPr id="9" name="Text 6"/>
          <p:cNvSpPr/>
          <p:nvPr/>
        </p:nvSpPr>
        <p:spPr>
          <a:xfrm>
            <a:off x="9491782" y="411003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000000"/>
                </a:solidFill>
                <a:latin typeface="Noto Serif Medium" pitchFamily="34" charset="0"/>
                <a:ea typeface="Noto Serif Medium" pitchFamily="34" charset="-122"/>
                <a:cs typeface="Noto Serif Medium" pitchFamily="34" charset="-120"/>
              </a:rPr>
              <a:t>Stemming</a:t>
            </a:r>
            <a:endParaRPr lang="en-US" sz="2200" dirty="0"/>
          </a:p>
        </p:txBody>
      </p:sp>
      <p:sp>
        <p:nvSpPr>
          <p:cNvPr id="10" name="Text 7"/>
          <p:cNvSpPr/>
          <p:nvPr/>
        </p:nvSpPr>
        <p:spPr>
          <a:xfrm>
            <a:off x="9491782" y="4600456"/>
            <a:ext cx="4110395" cy="362903"/>
          </a:xfrm>
          <a:prstGeom prst="rect">
            <a:avLst/>
          </a:prstGeom>
          <a:noFill/>
          <a:ln/>
        </p:spPr>
        <p:txBody>
          <a:bodyPr wrap="none" lIns="0" tIns="0" rIns="0" bIns="0" rtlCol="0" anchor="t"/>
          <a:lstStyle/>
          <a:p>
            <a:pPr marL="0" indent="0" algn="l">
              <a:lnSpc>
                <a:spcPts val="2850"/>
              </a:lnSpc>
              <a:buNone/>
            </a:pPr>
            <a:r>
              <a:rPr lang="en-US" sz="1750" dirty="0">
                <a:solidFill>
                  <a:srgbClr val="000000"/>
                </a:solidFill>
                <a:latin typeface="Noto Serif" pitchFamily="34" charset="0"/>
                <a:ea typeface="Noto Serif" pitchFamily="34" charset="-122"/>
                <a:cs typeface="Noto Serif" pitchFamily="34" charset="-120"/>
              </a:rPr>
              <a:t>Reducing words to their base form.</a:t>
            </a:r>
            <a:endParaRPr lang="en-US" sz="1750" dirty="0"/>
          </a:p>
        </p:txBody>
      </p:sp>
      <p:sp>
        <p:nvSpPr>
          <p:cNvPr id="11" name="Shape 8"/>
          <p:cNvSpPr/>
          <p:nvPr/>
        </p:nvSpPr>
        <p:spPr>
          <a:xfrm>
            <a:off x="4451390" y="5424607"/>
            <a:ext cx="9385221" cy="1322189"/>
          </a:xfrm>
          <a:prstGeom prst="roundRect">
            <a:avLst>
              <a:gd name="adj" fmla="val 7205"/>
            </a:avLst>
          </a:prstGeom>
          <a:solidFill>
            <a:srgbClr val="E6DED2">
              <a:alpha val="50000"/>
            </a:srgbClr>
          </a:solidFill>
          <a:ln w="7620">
            <a:solidFill>
              <a:srgbClr val="CCC4B8"/>
            </a:solidFill>
            <a:prstDash val="solid"/>
          </a:ln>
          <a:effectLst>
            <a:outerShdw dist="20320" dir="2700000" algn="bl" rotWithShape="0">
              <a:srgbClr val="CCC4B8">
                <a:alpha val="100000"/>
              </a:srgbClr>
            </a:outerShdw>
          </a:effectLst>
        </p:spPr>
      </p:sp>
      <p:sp>
        <p:nvSpPr>
          <p:cNvPr id="12" name="Text 9"/>
          <p:cNvSpPr/>
          <p:nvPr/>
        </p:nvSpPr>
        <p:spPr>
          <a:xfrm>
            <a:off x="4685824" y="5659041"/>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000000"/>
                </a:solidFill>
                <a:latin typeface="Noto Serif Medium" pitchFamily="34" charset="0"/>
                <a:ea typeface="Noto Serif Medium" pitchFamily="34" charset="-122"/>
                <a:cs typeface="Noto Serif Medium" pitchFamily="34" charset="-120"/>
              </a:rPr>
              <a:t>TF-IDF</a:t>
            </a:r>
            <a:endParaRPr lang="en-US" sz="2200" dirty="0"/>
          </a:p>
        </p:txBody>
      </p:sp>
      <p:sp>
        <p:nvSpPr>
          <p:cNvPr id="13" name="Text 10"/>
          <p:cNvSpPr/>
          <p:nvPr/>
        </p:nvSpPr>
        <p:spPr>
          <a:xfrm>
            <a:off x="4685824" y="6149459"/>
            <a:ext cx="8916353" cy="362903"/>
          </a:xfrm>
          <a:prstGeom prst="rect">
            <a:avLst/>
          </a:prstGeom>
          <a:noFill/>
          <a:ln/>
        </p:spPr>
        <p:txBody>
          <a:bodyPr wrap="none" lIns="0" tIns="0" rIns="0" bIns="0" rtlCol="0" anchor="t"/>
          <a:lstStyle/>
          <a:p>
            <a:pPr marL="0" indent="0" algn="l">
              <a:lnSpc>
                <a:spcPts val="2850"/>
              </a:lnSpc>
              <a:buNone/>
            </a:pPr>
            <a:r>
              <a:rPr lang="en-US" sz="1750" dirty="0">
                <a:solidFill>
                  <a:srgbClr val="000000"/>
                </a:solidFill>
                <a:latin typeface="Noto Serif" pitchFamily="34" charset="0"/>
                <a:ea typeface="Noto Serif" pitchFamily="34" charset="-122"/>
                <a:cs typeface="Noto Serif" pitchFamily="34" charset="-120"/>
              </a:rPr>
              <a:t>Weighting word significance.</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651629"/>
            <a:ext cx="5695355" cy="708779"/>
          </a:xfrm>
          <a:prstGeom prst="rect">
            <a:avLst/>
          </a:prstGeom>
          <a:noFill/>
          <a:ln/>
        </p:spPr>
        <p:txBody>
          <a:bodyPr wrap="none" lIns="0" tIns="0" rIns="0" bIns="0" rtlCol="0" anchor="t"/>
          <a:lstStyle/>
          <a:p>
            <a:pPr marL="0" indent="0" algn="l">
              <a:lnSpc>
                <a:spcPts val="5550"/>
              </a:lnSpc>
              <a:buNone/>
            </a:pPr>
            <a:r>
              <a:rPr lang="en-US" sz="4450" dirty="0">
                <a:solidFill>
                  <a:srgbClr val="3A3A3A"/>
                </a:solidFill>
                <a:latin typeface="Noto Serif Medium" pitchFamily="34" charset="0"/>
                <a:ea typeface="Noto Serif Medium" pitchFamily="34" charset="-122"/>
                <a:cs typeface="Noto Serif Medium" pitchFamily="34" charset="-120"/>
              </a:rPr>
              <a:t>Algorithms in Action</a:t>
            </a:r>
            <a:endParaRPr lang="en-US" sz="4450" dirty="0"/>
          </a:p>
        </p:txBody>
      </p:sp>
      <p:sp>
        <p:nvSpPr>
          <p:cNvPr id="3" name="Text 1"/>
          <p:cNvSpPr/>
          <p:nvPr/>
        </p:nvSpPr>
        <p:spPr>
          <a:xfrm>
            <a:off x="793790" y="1814036"/>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4C4C4C"/>
                </a:solidFill>
                <a:latin typeface="Noto Serif" pitchFamily="34" charset="0"/>
                <a:ea typeface="Noto Serif" pitchFamily="34" charset="-122"/>
                <a:cs typeface="Noto Serif" pitchFamily="34" charset="-120"/>
              </a:rPr>
              <a:t>We tested several supervised learning algorithms. Each brings unique strengths. Their performance varies. We seek the most effective combination. Here's a look at the contenders:</a:t>
            </a:r>
            <a:endParaRPr lang="en-US" sz="1750" dirty="0"/>
          </a:p>
        </p:txBody>
      </p:sp>
      <p:pic>
        <p:nvPicPr>
          <p:cNvPr id="4" name="Image 0" descr="preencoded.png"/>
          <p:cNvPicPr>
            <a:picLocks noChangeAspect="1"/>
          </p:cNvPicPr>
          <p:nvPr/>
        </p:nvPicPr>
        <p:blipFill>
          <a:blip r:embed="rId3"/>
          <a:stretch>
            <a:fillRect/>
          </a:stretch>
        </p:blipFill>
        <p:spPr>
          <a:xfrm>
            <a:off x="793790" y="3050143"/>
            <a:ext cx="6244709" cy="4272677"/>
          </a:xfrm>
          <a:prstGeom prst="rect">
            <a:avLst/>
          </a:prstGeom>
        </p:spPr>
      </p:pic>
      <p:sp>
        <p:nvSpPr>
          <p:cNvPr id="5" name="Shape 2"/>
          <p:cNvSpPr/>
          <p:nvPr/>
        </p:nvSpPr>
        <p:spPr>
          <a:xfrm>
            <a:off x="7599521" y="3050143"/>
            <a:ext cx="510302" cy="510302"/>
          </a:xfrm>
          <a:prstGeom prst="roundRect">
            <a:avLst>
              <a:gd name="adj" fmla="val 18669"/>
            </a:avLst>
          </a:prstGeom>
          <a:solidFill>
            <a:srgbClr val="E6DED2">
              <a:alpha val="50000"/>
            </a:srgbClr>
          </a:solidFill>
          <a:ln w="7620">
            <a:solidFill>
              <a:srgbClr val="CCC4B8"/>
            </a:solidFill>
            <a:prstDash val="solid"/>
          </a:ln>
          <a:effectLst>
            <a:outerShdw dist="20320" dir="2700000" algn="bl" rotWithShape="0">
              <a:srgbClr val="CCC4B8">
                <a:alpha val="100000"/>
              </a:srgbClr>
            </a:outerShdw>
          </a:effectLst>
        </p:spPr>
      </p:sp>
      <p:sp>
        <p:nvSpPr>
          <p:cNvPr id="6" name="Text 3"/>
          <p:cNvSpPr/>
          <p:nvPr/>
        </p:nvSpPr>
        <p:spPr>
          <a:xfrm>
            <a:off x="8336637" y="312801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Naive Bayes</a:t>
            </a:r>
            <a:endParaRPr lang="en-US" sz="2200" dirty="0"/>
          </a:p>
        </p:txBody>
      </p:sp>
      <p:sp>
        <p:nvSpPr>
          <p:cNvPr id="7" name="Text 4"/>
          <p:cNvSpPr/>
          <p:nvPr/>
        </p:nvSpPr>
        <p:spPr>
          <a:xfrm>
            <a:off x="8336637" y="3709154"/>
            <a:ext cx="5507593" cy="362903"/>
          </a:xfrm>
          <a:prstGeom prst="rect">
            <a:avLst/>
          </a:prstGeom>
          <a:noFill/>
          <a:ln/>
        </p:spPr>
        <p:txBody>
          <a:bodyPr wrap="none" lIns="0" tIns="0" rIns="0" bIns="0" rtlCol="0" anchor="t"/>
          <a:lstStyle/>
          <a:p>
            <a:pPr marL="0" indent="0" algn="l">
              <a:lnSpc>
                <a:spcPts val="2850"/>
              </a:lnSpc>
              <a:buNone/>
            </a:pPr>
            <a:r>
              <a:rPr lang="en-US" sz="1750" dirty="0">
                <a:solidFill>
                  <a:srgbClr val="4C4C4C"/>
                </a:solidFill>
                <a:latin typeface="Noto Serif" pitchFamily="34" charset="0"/>
                <a:ea typeface="Noto Serif" pitchFamily="34" charset="-122"/>
                <a:cs typeface="Noto Serif" pitchFamily="34" charset="-120"/>
              </a:rPr>
              <a:t>A probabilistic classifier.</a:t>
            </a:r>
            <a:endParaRPr lang="en-US" sz="1750" dirty="0"/>
          </a:p>
        </p:txBody>
      </p:sp>
      <p:sp>
        <p:nvSpPr>
          <p:cNvPr id="8" name="Shape 5"/>
          <p:cNvSpPr/>
          <p:nvPr/>
        </p:nvSpPr>
        <p:spPr>
          <a:xfrm>
            <a:off x="7599521" y="4525685"/>
            <a:ext cx="510302" cy="510302"/>
          </a:xfrm>
          <a:prstGeom prst="roundRect">
            <a:avLst>
              <a:gd name="adj" fmla="val 18669"/>
            </a:avLst>
          </a:prstGeom>
          <a:solidFill>
            <a:srgbClr val="E6DED2">
              <a:alpha val="50000"/>
            </a:srgbClr>
          </a:solidFill>
          <a:ln w="7620">
            <a:solidFill>
              <a:srgbClr val="CCC4B8"/>
            </a:solidFill>
            <a:prstDash val="solid"/>
          </a:ln>
          <a:effectLst>
            <a:outerShdw dist="20320" dir="2700000" algn="bl" rotWithShape="0">
              <a:srgbClr val="CCC4B8">
                <a:alpha val="100000"/>
              </a:srgbClr>
            </a:outerShdw>
          </a:effectLst>
        </p:spPr>
      </p:sp>
      <p:sp>
        <p:nvSpPr>
          <p:cNvPr id="9" name="Text 6"/>
          <p:cNvSpPr/>
          <p:nvPr/>
        </p:nvSpPr>
        <p:spPr>
          <a:xfrm>
            <a:off x="8336637" y="4603552"/>
            <a:ext cx="3444359" cy="354330"/>
          </a:xfrm>
          <a:prstGeom prst="rect">
            <a:avLst/>
          </a:prstGeom>
          <a:noFill/>
          <a:ln/>
        </p:spPr>
        <p:txBody>
          <a:bodyPr wrap="none" lIns="0" tIns="0" rIns="0" bIns="0" rtlCol="0" anchor="t"/>
          <a:lstStyle/>
          <a:p>
            <a:pPr marL="0" indent="0" algn="l">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Support Vector Machines</a:t>
            </a:r>
            <a:endParaRPr lang="en-US" sz="2200" dirty="0"/>
          </a:p>
        </p:txBody>
      </p:sp>
      <p:sp>
        <p:nvSpPr>
          <p:cNvPr id="10" name="Text 7"/>
          <p:cNvSpPr/>
          <p:nvPr/>
        </p:nvSpPr>
        <p:spPr>
          <a:xfrm>
            <a:off x="8336637" y="5184696"/>
            <a:ext cx="5507593" cy="362903"/>
          </a:xfrm>
          <a:prstGeom prst="rect">
            <a:avLst/>
          </a:prstGeom>
          <a:noFill/>
          <a:ln/>
        </p:spPr>
        <p:txBody>
          <a:bodyPr wrap="none" lIns="0" tIns="0" rIns="0" bIns="0" rtlCol="0" anchor="t"/>
          <a:lstStyle/>
          <a:p>
            <a:pPr marL="0" indent="0" algn="l">
              <a:lnSpc>
                <a:spcPts val="2850"/>
              </a:lnSpc>
              <a:buNone/>
            </a:pPr>
            <a:r>
              <a:rPr lang="en-US" sz="1750" dirty="0">
                <a:solidFill>
                  <a:srgbClr val="4C4C4C"/>
                </a:solidFill>
                <a:latin typeface="Noto Serif" pitchFamily="34" charset="0"/>
                <a:ea typeface="Noto Serif" pitchFamily="34" charset="-122"/>
                <a:cs typeface="Noto Serif" pitchFamily="34" charset="-120"/>
              </a:rPr>
              <a:t>Powerful for classification tasks.</a:t>
            </a:r>
            <a:endParaRPr lang="en-US" sz="1750" dirty="0"/>
          </a:p>
        </p:txBody>
      </p:sp>
      <p:sp>
        <p:nvSpPr>
          <p:cNvPr id="11" name="Shape 8"/>
          <p:cNvSpPr/>
          <p:nvPr/>
        </p:nvSpPr>
        <p:spPr>
          <a:xfrm>
            <a:off x="7599521" y="6001226"/>
            <a:ext cx="510302" cy="510302"/>
          </a:xfrm>
          <a:prstGeom prst="roundRect">
            <a:avLst>
              <a:gd name="adj" fmla="val 18669"/>
            </a:avLst>
          </a:prstGeom>
          <a:solidFill>
            <a:srgbClr val="E6DED2">
              <a:alpha val="50000"/>
            </a:srgbClr>
          </a:solidFill>
          <a:ln w="7620">
            <a:solidFill>
              <a:srgbClr val="CCC4B8"/>
            </a:solidFill>
            <a:prstDash val="solid"/>
          </a:ln>
          <a:effectLst>
            <a:outerShdw dist="20320" dir="2700000" algn="bl" rotWithShape="0">
              <a:srgbClr val="CCC4B8">
                <a:alpha val="100000"/>
              </a:srgbClr>
            </a:outerShdw>
          </a:effectLst>
        </p:spPr>
      </p:sp>
      <p:sp>
        <p:nvSpPr>
          <p:cNvPr id="12" name="Text 9"/>
          <p:cNvSpPr/>
          <p:nvPr/>
        </p:nvSpPr>
        <p:spPr>
          <a:xfrm>
            <a:off x="8336637" y="607909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C4C4C"/>
                </a:solidFill>
                <a:latin typeface="Noto Serif Medium" pitchFamily="34" charset="0"/>
                <a:ea typeface="Noto Serif Medium" pitchFamily="34" charset="-122"/>
                <a:cs typeface="Noto Serif Medium" pitchFamily="34" charset="-120"/>
              </a:rPr>
              <a:t>Random Forest</a:t>
            </a:r>
            <a:endParaRPr lang="en-US" sz="2200" dirty="0"/>
          </a:p>
        </p:txBody>
      </p:sp>
      <p:sp>
        <p:nvSpPr>
          <p:cNvPr id="13" name="Text 10"/>
          <p:cNvSpPr/>
          <p:nvPr/>
        </p:nvSpPr>
        <p:spPr>
          <a:xfrm>
            <a:off x="8336637" y="6660237"/>
            <a:ext cx="5507593" cy="362903"/>
          </a:xfrm>
          <a:prstGeom prst="rect">
            <a:avLst/>
          </a:prstGeom>
          <a:noFill/>
          <a:ln/>
        </p:spPr>
        <p:txBody>
          <a:bodyPr wrap="none" lIns="0" tIns="0" rIns="0" bIns="0" rtlCol="0" anchor="t"/>
          <a:lstStyle/>
          <a:p>
            <a:pPr marL="0" indent="0" algn="l">
              <a:lnSpc>
                <a:spcPts val="2850"/>
              </a:lnSpc>
              <a:buNone/>
            </a:pPr>
            <a:r>
              <a:rPr lang="en-US" sz="1750" dirty="0">
                <a:solidFill>
                  <a:srgbClr val="4C4C4C"/>
                </a:solidFill>
                <a:latin typeface="Noto Serif" pitchFamily="34" charset="0"/>
                <a:ea typeface="Noto Serif" pitchFamily="34" charset="-122"/>
                <a:cs typeface="Noto Serif" pitchFamily="34" charset="-120"/>
              </a:rPr>
              <a:t>Ensemble method for accuracy.</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36138" y="421243"/>
            <a:ext cx="5775365" cy="478750"/>
          </a:xfrm>
          <a:prstGeom prst="rect">
            <a:avLst/>
          </a:prstGeom>
          <a:noFill/>
          <a:ln/>
        </p:spPr>
        <p:txBody>
          <a:bodyPr wrap="none" lIns="0" tIns="0" rIns="0" bIns="0" rtlCol="0" anchor="t"/>
          <a:lstStyle/>
          <a:p>
            <a:pPr marL="0" indent="0" algn="l">
              <a:lnSpc>
                <a:spcPts val="3750"/>
              </a:lnSpc>
              <a:buNone/>
            </a:pPr>
            <a:r>
              <a:rPr lang="en-US" sz="3000" dirty="0">
                <a:solidFill>
                  <a:srgbClr val="3A3A3A"/>
                </a:solidFill>
                <a:latin typeface="Noto Serif Medium" pitchFamily="34" charset="0"/>
                <a:ea typeface="Noto Serif Medium" pitchFamily="34" charset="-122"/>
                <a:cs typeface="Noto Serif Medium" pitchFamily="34" charset="-120"/>
              </a:rPr>
              <a:t>Evaluating Model Performance</a:t>
            </a:r>
            <a:endParaRPr lang="en-US" sz="3000" dirty="0"/>
          </a:p>
        </p:txBody>
      </p:sp>
      <p:sp>
        <p:nvSpPr>
          <p:cNvPr id="3" name="Text 1"/>
          <p:cNvSpPr/>
          <p:nvPr/>
        </p:nvSpPr>
        <p:spPr>
          <a:xfrm>
            <a:off x="536138" y="1206341"/>
            <a:ext cx="13558123" cy="490299"/>
          </a:xfrm>
          <a:prstGeom prst="rect">
            <a:avLst/>
          </a:prstGeom>
          <a:noFill/>
          <a:ln/>
        </p:spPr>
        <p:txBody>
          <a:bodyPr wrap="square" lIns="0" tIns="0" rIns="0" bIns="0" rtlCol="0" anchor="t"/>
          <a:lstStyle/>
          <a:p>
            <a:pPr marL="0" indent="0" algn="l">
              <a:lnSpc>
                <a:spcPts val="1900"/>
              </a:lnSpc>
              <a:buNone/>
            </a:pPr>
            <a:r>
              <a:rPr lang="en-US" sz="1200" dirty="0">
                <a:solidFill>
                  <a:srgbClr val="4C4C4C"/>
                </a:solidFill>
                <a:latin typeface="Noto Serif" pitchFamily="34" charset="0"/>
                <a:ea typeface="Noto Serif" pitchFamily="34" charset="-122"/>
                <a:cs typeface="Noto Serif" pitchFamily="34" charset="-120"/>
              </a:rPr>
              <a:t>We measure success using key metrics. Accuracy shows overall correctness. Precision minimizes false positives. Recall catches all spam. F1-score balances both. Our results are very promising!</a:t>
            </a:r>
            <a:endParaRPr lang="en-US" sz="1200" dirty="0"/>
          </a:p>
        </p:txBody>
      </p:sp>
      <p:pic>
        <p:nvPicPr>
          <p:cNvPr id="4" name="Image 0" descr="preencoded.png"/>
          <p:cNvPicPr>
            <a:picLocks noChangeAspect="1"/>
          </p:cNvPicPr>
          <p:nvPr/>
        </p:nvPicPr>
        <p:blipFill>
          <a:blip r:embed="rId3"/>
          <a:stretch>
            <a:fillRect/>
          </a:stretch>
        </p:blipFill>
        <p:spPr>
          <a:xfrm>
            <a:off x="536138" y="1868924"/>
            <a:ext cx="13558123" cy="7132796"/>
          </a:xfrm>
          <a:prstGeom prst="rect">
            <a:avLst/>
          </a:prstGeom>
        </p:spPr>
      </p:pic>
      <p:sp>
        <p:nvSpPr>
          <p:cNvPr id="5" name="Shape 2"/>
          <p:cNvSpPr/>
          <p:nvPr/>
        </p:nvSpPr>
        <p:spPr>
          <a:xfrm>
            <a:off x="3856553" y="9001720"/>
            <a:ext cx="153114" cy="153114"/>
          </a:xfrm>
          <a:prstGeom prst="roundRect">
            <a:avLst>
              <a:gd name="adj" fmla="val 11944"/>
            </a:avLst>
          </a:prstGeom>
          <a:solidFill>
            <a:srgbClr val="2B2722"/>
          </a:solidFill>
          <a:ln/>
        </p:spPr>
      </p:sp>
      <p:sp>
        <p:nvSpPr>
          <p:cNvPr id="6" name="Text 3"/>
          <p:cNvSpPr/>
          <p:nvPr/>
        </p:nvSpPr>
        <p:spPr>
          <a:xfrm>
            <a:off x="4070628" y="9001720"/>
            <a:ext cx="883206" cy="153114"/>
          </a:xfrm>
          <a:prstGeom prst="rect">
            <a:avLst/>
          </a:prstGeom>
          <a:noFill/>
          <a:ln/>
        </p:spPr>
        <p:txBody>
          <a:bodyPr wrap="none" lIns="0" tIns="0" rIns="0" bIns="0" rtlCol="0" anchor="t"/>
          <a:lstStyle/>
          <a:p>
            <a:pPr marL="0" indent="0" algn="l">
              <a:lnSpc>
                <a:spcPts val="1200"/>
              </a:lnSpc>
              <a:buNone/>
            </a:pPr>
            <a:r>
              <a:rPr lang="en-US" sz="1200" dirty="0">
                <a:solidFill>
                  <a:srgbClr val="4C4C4C"/>
                </a:solidFill>
                <a:latin typeface="Noto Serif" pitchFamily="34" charset="0"/>
                <a:ea typeface="Noto Serif" pitchFamily="34" charset="-122"/>
                <a:cs typeface="Noto Serif" pitchFamily="34" charset="-120"/>
              </a:rPr>
              <a:t>Naive Bayes</a:t>
            </a:r>
            <a:endParaRPr lang="en-US" sz="1200" dirty="0"/>
          </a:p>
        </p:txBody>
      </p:sp>
      <p:sp>
        <p:nvSpPr>
          <p:cNvPr id="7" name="Shape 4"/>
          <p:cNvSpPr/>
          <p:nvPr/>
        </p:nvSpPr>
        <p:spPr>
          <a:xfrm>
            <a:off x="7044452" y="9001720"/>
            <a:ext cx="153114" cy="153114"/>
          </a:xfrm>
          <a:prstGeom prst="roundRect">
            <a:avLst>
              <a:gd name="adj" fmla="val 11944"/>
            </a:avLst>
          </a:prstGeom>
          <a:solidFill>
            <a:srgbClr val="514B41"/>
          </a:solidFill>
          <a:ln/>
        </p:spPr>
      </p:sp>
      <p:sp>
        <p:nvSpPr>
          <p:cNvPr id="8" name="Text 5"/>
          <p:cNvSpPr/>
          <p:nvPr/>
        </p:nvSpPr>
        <p:spPr>
          <a:xfrm>
            <a:off x="7258526" y="9001720"/>
            <a:ext cx="327303" cy="153114"/>
          </a:xfrm>
          <a:prstGeom prst="rect">
            <a:avLst/>
          </a:prstGeom>
          <a:noFill/>
          <a:ln/>
        </p:spPr>
        <p:txBody>
          <a:bodyPr wrap="none" lIns="0" tIns="0" rIns="0" bIns="0" rtlCol="0" anchor="t"/>
          <a:lstStyle/>
          <a:p>
            <a:pPr marL="0" indent="0" algn="l">
              <a:lnSpc>
                <a:spcPts val="1200"/>
              </a:lnSpc>
              <a:buNone/>
            </a:pPr>
            <a:r>
              <a:rPr lang="en-US" sz="1200" dirty="0">
                <a:solidFill>
                  <a:srgbClr val="4C4C4C"/>
                </a:solidFill>
                <a:latin typeface="Noto Serif" pitchFamily="34" charset="0"/>
                <a:ea typeface="Noto Serif" pitchFamily="34" charset="-122"/>
                <a:cs typeface="Noto Serif" pitchFamily="34" charset="-120"/>
              </a:rPr>
              <a:t>SVM</a:t>
            </a:r>
            <a:endParaRPr lang="en-US" sz="1200" dirty="0"/>
          </a:p>
        </p:txBody>
      </p:sp>
      <p:sp>
        <p:nvSpPr>
          <p:cNvPr id="9" name="Shape 6"/>
          <p:cNvSpPr/>
          <p:nvPr/>
        </p:nvSpPr>
        <p:spPr>
          <a:xfrm>
            <a:off x="9676448" y="9001720"/>
            <a:ext cx="153114" cy="153114"/>
          </a:xfrm>
          <a:prstGeom prst="roundRect">
            <a:avLst>
              <a:gd name="adj" fmla="val 11944"/>
            </a:avLst>
          </a:prstGeom>
          <a:solidFill>
            <a:srgbClr val="786E60"/>
          </a:solidFill>
          <a:ln/>
        </p:spPr>
      </p:sp>
      <p:sp>
        <p:nvSpPr>
          <p:cNvPr id="10" name="Text 7"/>
          <p:cNvSpPr/>
          <p:nvPr/>
        </p:nvSpPr>
        <p:spPr>
          <a:xfrm>
            <a:off x="9890522" y="9001720"/>
            <a:ext cx="1101923" cy="153114"/>
          </a:xfrm>
          <a:prstGeom prst="rect">
            <a:avLst/>
          </a:prstGeom>
          <a:noFill/>
          <a:ln/>
        </p:spPr>
        <p:txBody>
          <a:bodyPr wrap="none" lIns="0" tIns="0" rIns="0" bIns="0" rtlCol="0" anchor="t"/>
          <a:lstStyle/>
          <a:p>
            <a:pPr marL="0" indent="0" algn="l">
              <a:lnSpc>
                <a:spcPts val="1200"/>
              </a:lnSpc>
              <a:buNone/>
            </a:pPr>
            <a:r>
              <a:rPr lang="en-US" sz="1200" dirty="0">
                <a:solidFill>
                  <a:srgbClr val="4C4C4C"/>
                </a:solidFill>
                <a:latin typeface="Noto Serif" pitchFamily="34" charset="0"/>
                <a:ea typeface="Noto Serif" pitchFamily="34" charset="-122"/>
                <a:cs typeface="Noto Serif" pitchFamily="34" charset="-120"/>
              </a:rPr>
              <a:t>Random Forest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683073"/>
            <a:ext cx="6648450" cy="708779"/>
          </a:xfrm>
          <a:prstGeom prst="rect">
            <a:avLst/>
          </a:prstGeom>
          <a:noFill/>
          <a:ln/>
        </p:spPr>
        <p:txBody>
          <a:bodyPr wrap="none" lIns="0" tIns="0" rIns="0" bIns="0" rtlCol="0" anchor="t"/>
          <a:lstStyle/>
          <a:p>
            <a:pPr marL="0" indent="0" algn="l">
              <a:lnSpc>
                <a:spcPts val="5550"/>
              </a:lnSpc>
              <a:buNone/>
            </a:pPr>
            <a:r>
              <a:rPr lang="en-US" sz="4450" dirty="0">
                <a:solidFill>
                  <a:srgbClr val="3A3A3A"/>
                </a:solidFill>
                <a:latin typeface="Noto Serif Medium" pitchFamily="34" charset="0"/>
                <a:ea typeface="Noto Serif Medium" pitchFamily="34" charset="-122"/>
                <a:cs typeface="Noto Serif Medium" pitchFamily="34" charset="-120"/>
              </a:rPr>
              <a:t>Conclusion &amp; Next Steps</a:t>
            </a:r>
            <a:endParaRPr lang="en-US" sz="4450" dirty="0"/>
          </a:p>
        </p:txBody>
      </p:sp>
      <p:sp>
        <p:nvSpPr>
          <p:cNvPr id="4" name="Text 1"/>
          <p:cNvSpPr/>
          <p:nvPr/>
        </p:nvSpPr>
        <p:spPr>
          <a:xfrm>
            <a:off x="6280190" y="3732014"/>
            <a:ext cx="7556421" cy="1814513"/>
          </a:xfrm>
          <a:prstGeom prst="rect">
            <a:avLst/>
          </a:prstGeom>
          <a:noFill/>
          <a:ln/>
        </p:spPr>
        <p:txBody>
          <a:bodyPr wrap="square" lIns="0" tIns="0" rIns="0" bIns="0" rtlCol="0" anchor="t"/>
          <a:lstStyle/>
          <a:p>
            <a:pPr marL="0" indent="0" algn="l">
              <a:lnSpc>
                <a:spcPts val="2850"/>
              </a:lnSpc>
              <a:buNone/>
            </a:pPr>
            <a:r>
              <a:rPr lang="en-US" sz="1750" dirty="0">
                <a:solidFill>
                  <a:srgbClr val="4C4C4C"/>
                </a:solidFill>
                <a:latin typeface="Noto Serif" pitchFamily="34" charset="0"/>
                <a:ea typeface="Noto Serif" pitchFamily="34" charset="-122"/>
                <a:cs typeface="Noto Serif" pitchFamily="34" charset="-120"/>
              </a:rPr>
              <a:t>Machine learning effectively blocks spam. This project shows intelligent systems' power. We can greatly reduce malicious email exposure. Future work includes adaptive filtering. We also want to explore new, more robust techniques. Our goal is a safer digital world for everyone.</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396</Words>
  <Application>Microsoft Office PowerPoint</Application>
  <PresentationFormat>Custom</PresentationFormat>
  <Paragraphs>45</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Noto Serif</vt:lpstr>
      <vt:lpstr>Noto Serif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srija manthena</dc:creator>
  <cp:lastModifiedBy>srija manthena</cp:lastModifiedBy>
  <cp:revision>2</cp:revision>
  <dcterms:created xsi:type="dcterms:W3CDTF">2025-06-19T12:29:24Z</dcterms:created>
  <dcterms:modified xsi:type="dcterms:W3CDTF">2025-06-19T12:33:20Z</dcterms:modified>
</cp:coreProperties>
</file>